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705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CF0BD3-4A2B-51A0-361F-039A12FD6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F49BFDF-088D-F9B8-2480-B4C49088A7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A61139-6FDC-431F-6DB8-0340A5564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279EE-4A99-411A-ABDC-C7033CE64B8B}" type="datetimeFigureOut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DEA4D7-0604-CD7D-D1AF-E5BDEDA82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A9EFF2-C8CF-415A-5756-D61E69720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EFDAB-F8BA-440C-853E-E2916E61E8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992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FD616F-7EE1-1748-25B9-8EE6C73C4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B13C72-0A04-8130-6A6C-1B34744CD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6C04ED-BE8F-C48E-00DB-4BCBDF871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279EE-4A99-411A-ABDC-C7033CE64B8B}" type="datetimeFigureOut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23A394-AB8B-4CE4-7133-F61548E34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CDC552-52C3-CC73-B85A-AF099B8F5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EFDAB-F8BA-440C-853E-E2916E61E8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2816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CEE12F-1E30-A10E-3C47-A4681CDDA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902043-A56D-24E8-D4CB-9B9489E4C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A7B24D-091E-E240-A5BB-2C08BEC89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279EE-4A99-411A-ABDC-C7033CE64B8B}" type="datetimeFigureOut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A5C179-A7C2-8443-60EA-B4401AE0E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9E0BA0-62B1-D528-6097-0B74C2F4A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EFDAB-F8BA-440C-853E-E2916E61E8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8676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27B49C-4F1B-1B15-3B8D-7B2E10C02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C9DF03-82DA-2774-36A1-6A3FCA76E5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ACD0301-3699-E4C1-F4EC-74ABE5309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6ABF8C-B635-CEF9-F8DA-ACF812C5B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279EE-4A99-411A-ABDC-C7033CE64B8B}" type="datetimeFigureOut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34ACB1A-73B0-E66C-D54C-7FF079598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3AB55A-727E-2F30-6498-A9AC656D6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EFDAB-F8BA-440C-853E-E2916E61E8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4079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99715B-F00D-FF0E-F096-8CBF8C9E0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F7FB5C1-6A38-B59C-4E80-36CCE4D4DD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B8AFDF0-E7DF-1C93-5569-37ABC9212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2F2FCEF-6CF1-1BC4-DD0A-3E414C8EAE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2635AF4-9CF8-CD73-75D6-B2353F3541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9CE5F56-47CC-2286-4257-053C8FE35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279EE-4A99-411A-ABDC-C7033CE64B8B}" type="datetimeFigureOut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8B37FCC-8868-CD44-03BA-BC53F434A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E5C9829-52FA-4FE2-95C0-15B696AB7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EFDAB-F8BA-440C-853E-E2916E61E8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077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C81F9E-48A8-5F5B-67DE-F55E26B5A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00CDA83-EDFE-CC03-8CB0-1E1EEBD20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279EE-4A99-411A-ABDC-C7033CE64B8B}" type="datetimeFigureOut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E390803-F417-75FF-1FFD-1808D01C5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55B7C61-F037-609A-B72E-09A1B9371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EFDAB-F8BA-440C-853E-E2916E61E8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1455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06CCF75-19B0-0ECA-4F60-41FBB7790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279EE-4A99-411A-ABDC-C7033CE64B8B}" type="datetimeFigureOut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8E1175A-802F-B33E-F0C4-379BEBAF3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95EA99-2C20-D89A-8F2B-C59E71BE0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EFDAB-F8BA-440C-853E-E2916E61E8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3778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AA7AAF-9CE4-3A50-F83E-23A712450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29CBEB-7D66-D980-B18B-7D102B2BC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62F3659-9528-3DDD-85AE-6DC7860F49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2BEC35-119F-2C1E-FF51-09229ED03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279EE-4A99-411A-ABDC-C7033CE64B8B}" type="datetimeFigureOut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8D8CB7-8B31-5998-115E-94499412D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766F9E-0ACC-4096-DE6E-84E3352E3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EFDAB-F8BA-440C-853E-E2916E61E8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6746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3276A8-2614-DED5-DB87-64990B06A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D5346E8-B957-08CC-FFFF-D9508736FD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600721C-4C82-F5EB-3B84-D1BAA95ABD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184BC1-C367-9D1F-009A-6D566EA77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279EE-4A99-411A-ABDC-C7033CE64B8B}" type="datetimeFigureOut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995EEC-96A5-4D15-15D5-1EC4A05CB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8774685-D582-20F5-3BA3-9EBBCF706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EFDAB-F8BA-440C-853E-E2916E61E8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9348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0ECEB5-CF12-2F22-C21B-85439CA85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AA8A84D-FA71-220C-7CBE-9062909E62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0449D6-324B-B9F2-6D58-63E270CF9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279EE-4A99-411A-ABDC-C7033CE64B8B}" type="datetimeFigureOut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9A7BE0-FE4D-AD49-2215-08C8A6445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5B44B8-0D4C-57BD-FFDA-A0B1EA9E7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EFDAB-F8BA-440C-853E-E2916E61E8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3956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971F817-FB80-1186-CE9F-2F14FF65D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3D4338-87EE-BB49-4C55-50BF8FAA4D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78DAAC-1A1E-2CA0-8ED4-2C292FEC5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279EE-4A99-411A-ABDC-C7033CE64B8B}" type="datetimeFigureOut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E937CD-8A7D-A051-6A6D-A67D6F097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56A1F9-548A-DD0E-31F2-68625C056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EFDAB-F8BA-440C-853E-E2916E61E8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027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4127417-B061-B96D-EFEC-27F4FE775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8DF91F-9595-47F2-73CA-FE0BF1C61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AD558A-611B-C4C8-DE34-BD3C2079CF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1279EE-4A99-411A-ABDC-C7033CE64B8B}" type="datetimeFigureOut">
              <a:rPr lang="zh-CN" altLang="en-US" smtClean="0"/>
              <a:t>2026/7/11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013AEF-2553-2E29-6000-9A9B95E3FD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2EC967-80AA-A9BB-C147-18D08F693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CEFDAB-F8BA-440C-853E-E2916E61E8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858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F81FA01-09C0-C51D-D7B5-914E89796E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1FD1583-49CE-1499-DBBC-A6157C09A985}"/>
              </a:ext>
            </a:extLst>
          </p:cNvPr>
          <p:cNvSpPr/>
          <p:nvPr/>
        </p:nvSpPr>
        <p:spPr>
          <a:xfrm>
            <a:off x="0" y="0"/>
            <a:ext cx="3429000" cy="6858000"/>
          </a:xfrm>
          <a:prstGeom prst="rect">
            <a:avLst/>
          </a:prstGeom>
          <a:solidFill>
            <a:srgbClr val="1F2937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72276D2-8B50-0FC9-272F-A1C1508C8C84}"/>
              </a:ext>
            </a:extLst>
          </p:cNvPr>
          <p:cNvSpPr/>
          <p:nvPr/>
        </p:nvSpPr>
        <p:spPr>
          <a:xfrm>
            <a:off x="3429000" y="0"/>
            <a:ext cx="127000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CB07BD0-553E-9B5E-0601-39878B49D34B}"/>
              </a:ext>
            </a:extLst>
          </p:cNvPr>
          <p:cNvSpPr txBox="1"/>
          <p:nvPr/>
        </p:nvSpPr>
        <p:spPr>
          <a:xfrm>
            <a:off x="4038600" y="1422400"/>
            <a:ext cx="6604000" cy="687368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38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小学期实训汇报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7736E12-1B25-2C04-6C95-062C43561444}"/>
              </a:ext>
            </a:extLst>
          </p:cNvPr>
          <p:cNvSpPr txBox="1"/>
          <p:nvPr/>
        </p:nvSpPr>
        <p:spPr>
          <a:xfrm>
            <a:off x="4089400" y="2311400"/>
            <a:ext cx="6604000" cy="44114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2200" b="1">
                <a:solidFill>
                  <a:srgbClr val="0F76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个人负责模块：斗地主 </a:t>
            </a:r>
            <a:r>
              <a:rPr lang="en-US" altLang="zh-CN" sz="2200" b="1">
                <a:solidFill>
                  <a:srgbClr val="0F76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2200" b="1">
                <a:solidFill>
                  <a:srgbClr val="0F76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弹幕试炼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2E0779A-EB08-2332-54A3-C7ECF8C8908E}"/>
              </a:ext>
            </a:extLst>
          </p:cNvPr>
          <p:cNvSpPr txBox="1"/>
          <p:nvPr/>
        </p:nvSpPr>
        <p:spPr>
          <a:xfrm>
            <a:off x="4114800" y="3048000"/>
            <a:ext cx="4572000" cy="34881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160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项目：</a:t>
            </a:r>
            <a:r>
              <a:rPr lang="en-US" altLang="zh-CN" sz="160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LanBoard</a:t>
            </a:r>
            <a:r>
              <a:rPr lang="zh-CN" altLang="en-US" sz="160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（棋域）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6CCE7AC-9C34-CFC9-F933-8FCE6E6A2ECB}"/>
              </a:ext>
            </a:extLst>
          </p:cNvPr>
          <p:cNvSpPr txBox="1"/>
          <p:nvPr/>
        </p:nvSpPr>
        <p:spPr>
          <a:xfrm>
            <a:off x="4114800" y="3492500"/>
            <a:ext cx="5461000" cy="34881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160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班级：软件</a:t>
            </a:r>
            <a:r>
              <a:rPr lang="en-US" altLang="zh-CN" sz="160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25-10    </a:t>
            </a:r>
            <a:r>
              <a:rPr lang="zh-CN" altLang="en-US" sz="160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姓名：许宇杰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98BFF43-CE2C-E21B-0150-7A4188D70644}"/>
              </a:ext>
            </a:extLst>
          </p:cNvPr>
          <p:cNvSpPr txBox="1"/>
          <p:nvPr/>
        </p:nvSpPr>
        <p:spPr>
          <a:xfrm>
            <a:off x="4114800" y="3937000"/>
            <a:ext cx="6604000" cy="333425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150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汇报重点：功能实现、核心逻辑、联机同步、调试优化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35293FD-5B0F-D443-A09F-F8196EE5C4A4}"/>
              </a:ext>
            </a:extLst>
          </p:cNvPr>
          <p:cNvSpPr/>
          <p:nvPr/>
        </p:nvSpPr>
        <p:spPr>
          <a:xfrm>
            <a:off x="4140200" y="4749800"/>
            <a:ext cx="939800" cy="330200"/>
          </a:xfrm>
          <a:prstGeom prst="roundRect">
            <a:avLst/>
          </a:prstGeom>
          <a:solidFill>
            <a:srgbClr val="CCFBF1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67F56AE-5A95-DFC8-1B8B-60251086CD73}"/>
              </a:ext>
            </a:extLst>
          </p:cNvPr>
          <p:cNvSpPr txBox="1"/>
          <p:nvPr/>
        </p:nvSpPr>
        <p:spPr>
          <a:xfrm>
            <a:off x="4140200" y="4775200"/>
            <a:ext cx="939800" cy="279564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sz="1150" b="1">
                <a:solidFill>
                  <a:srgbClr val="0F76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Qt 6</a:t>
            </a:r>
            <a:endParaRPr lang="zh-CN" altLang="en-US" sz="1150" b="1">
              <a:solidFill>
                <a:srgbClr val="0F76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96AA243-030E-9372-C607-54C661DA0EB7}"/>
              </a:ext>
            </a:extLst>
          </p:cNvPr>
          <p:cNvSpPr/>
          <p:nvPr/>
        </p:nvSpPr>
        <p:spPr>
          <a:xfrm>
            <a:off x="5232400" y="4749800"/>
            <a:ext cx="939800" cy="3302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57A3F03-7DBB-9C84-6D0A-8EDD077D2142}"/>
              </a:ext>
            </a:extLst>
          </p:cNvPr>
          <p:cNvSpPr txBox="1"/>
          <p:nvPr/>
        </p:nvSpPr>
        <p:spPr>
          <a:xfrm>
            <a:off x="5232400" y="4775200"/>
            <a:ext cx="939800" cy="279564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sz="115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QML</a:t>
            </a:r>
            <a:endParaRPr lang="zh-CN" altLang="en-US" sz="1150" b="1">
              <a:solidFill>
                <a:srgbClr val="2563E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E7D4C20-8FB9-2A17-0A15-77F3D11CF8C3}"/>
              </a:ext>
            </a:extLst>
          </p:cNvPr>
          <p:cNvSpPr/>
          <p:nvPr/>
        </p:nvSpPr>
        <p:spPr>
          <a:xfrm>
            <a:off x="6324600" y="4749800"/>
            <a:ext cx="939800" cy="3302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8C1664A-EE3F-65DF-3B14-B798B2F95176}"/>
              </a:ext>
            </a:extLst>
          </p:cNvPr>
          <p:cNvSpPr txBox="1"/>
          <p:nvPr/>
        </p:nvSpPr>
        <p:spPr>
          <a:xfrm>
            <a:off x="6324600" y="4775200"/>
            <a:ext cx="939800" cy="279564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sz="1150" b="1">
                <a:solidFill>
                  <a:srgbClr val="F59E0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C++</a:t>
            </a:r>
            <a:endParaRPr lang="zh-CN" altLang="en-US" sz="1150" b="1">
              <a:solidFill>
                <a:srgbClr val="F59E0B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960F292-FBE8-1798-CB3C-981919629725}"/>
              </a:ext>
            </a:extLst>
          </p:cNvPr>
          <p:cNvSpPr/>
          <p:nvPr/>
        </p:nvSpPr>
        <p:spPr>
          <a:xfrm>
            <a:off x="7416800" y="4749800"/>
            <a:ext cx="1320800" cy="3302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1EA75C9-4D33-9849-9969-FA0852BA8747}"/>
              </a:ext>
            </a:extLst>
          </p:cNvPr>
          <p:cNvSpPr txBox="1"/>
          <p:nvPr/>
        </p:nvSpPr>
        <p:spPr>
          <a:xfrm>
            <a:off x="7416800" y="4775200"/>
            <a:ext cx="1320800" cy="279564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zh-CN" altLang="en-US" sz="1150" b="1">
                <a:solidFill>
                  <a:srgbClr val="EF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联机同步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B9CFB2C-077E-9409-DCCE-E7F768916D29}"/>
              </a:ext>
            </a:extLst>
          </p:cNvPr>
          <p:cNvSpPr txBox="1"/>
          <p:nvPr/>
        </p:nvSpPr>
        <p:spPr>
          <a:xfrm>
            <a:off x="787400" y="685800"/>
            <a:ext cx="1143000" cy="56425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30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endParaRPr lang="zh-CN" altLang="en-US" sz="3000" b="1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29A5B5F-8A94-8327-D62F-54750E53FD50}"/>
              </a:ext>
            </a:extLst>
          </p:cNvPr>
          <p:cNvSpPr txBox="1"/>
          <p:nvPr/>
        </p:nvSpPr>
        <p:spPr>
          <a:xfrm>
            <a:off x="787400" y="1295400"/>
            <a:ext cx="1803400" cy="31803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1400">
                <a:solidFill>
                  <a:srgbClr val="CBD5E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个人工作展示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22F08EB6-41F1-A1E2-E305-A53A39721DC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946400"/>
            <a:ext cx="1219200" cy="1219200"/>
          </a:xfrm>
          <a:prstGeom prst="rect">
            <a:avLst/>
          </a:prstGeom>
        </p:spPr>
      </p:pic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E012DC81-FFC3-D449-34A2-581CC2A013AA}"/>
              </a:ext>
            </a:extLst>
          </p:cNvPr>
          <p:cNvSpPr/>
          <p:nvPr/>
        </p:nvSpPr>
        <p:spPr>
          <a:xfrm>
            <a:off x="914400" y="4800600"/>
            <a:ext cx="7366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043F283-FC98-7F34-D2A9-DF84C4147CED}"/>
              </a:ext>
            </a:extLst>
          </p:cNvPr>
          <p:cNvSpPr txBox="1"/>
          <p:nvPr/>
        </p:nvSpPr>
        <p:spPr>
          <a:xfrm>
            <a:off x="1066800" y="4953000"/>
            <a:ext cx="431800" cy="44114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sz="2200" b="1">
                <a:solidFill>
                  <a:srgbClr val="EF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endParaRPr lang="zh-CN" altLang="en-US" sz="2200" b="1">
              <a:solidFill>
                <a:srgbClr val="EF44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7D42152-0E85-3E10-A5B9-7D819B9BA87A}"/>
              </a:ext>
            </a:extLst>
          </p:cNvPr>
          <p:cNvSpPr txBox="1"/>
          <p:nvPr/>
        </p:nvSpPr>
        <p:spPr>
          <a:xfrm>
            <a:off x="1054100" y="5384800"/>
            <a:ext cx="457200" cy="44114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zh-CN" altLang="en-US" sz="22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♠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03284EC6-1DC2-CF03-6627-10EDD7FB1DAF}"/>
              </a:ext>
            </a:extLst>
          </p:cNvPr>
          <p:cNvSpPr/>
          <p:nvPr/>
        </p:nvSpPr>
        <p:spPr>
          <a:xfrm>
            <a:off x="1752600" y="4978400"/>
            <a:ext cx="7366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22AA8FF-BE67-780E-B719-47F80AC5382A}"/>
              </a:ext>
            </a:extLst>
          </p:cNvPr>
          <p:cNvSpPr txBox="1"/>
          <p:nvPr/>
        </p:nvSpPr>
        <p:spPr>
          <a:xfrm>
            <a:off x="1905000" y="5130800"/>
            <a:ext cx="431800" cy="44114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sz="22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K</a:t>
            </a:r>
            <a:endParaRPr lang="zh-CN" altLang="en-US" sz="2200" b="1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404849A-B34A-578B-07A5-043B594A5D45}"/>
              </a:ext>
            </a:extLst>
          </p:cNvPr>
          <p:cNvSpPr txBox="1"/>
          <p:nvPr/>
        </p:nvSpPr>
        <p:spPr>
          <a:xfrm>
            <a:off x="1892300" y="5562600"/>
            <a:ext cx="457200" cy="44114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zh-CN" altLang="en-US" sz="2200" b="1">
                <a:solidFill>
                  <a:srgbClr val="EF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♥</a:t>
            </a:r>
          </a:p>
        </p:txBody>
      </p:sp>
    </p:spTree>
    <p:extLst>
      <p:ext uri="{BB962C8B-B14F-4D97-AF65-F5344CB8AC3E}">
        <p14:creationId xmlns:p14="http://schemas.microsoft.com/office/powerpoint/2010/main" val="777864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9DE8CB6-E3BF-98C9-6F79-3218D193502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05B9EC0-4476-6374-69E4-D201137104A4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7CE7470-4A01-2983-22AD-0C32800C6388}"/>
              </a:ext>
            </a:extLst>
          </p:cNvPr>
          <p:cNvSpPr/>
          <p:nvPr/>
        </p:nvSpPr>
        <p:spPr>
          <a:xfrm>
            <a:off x="0" y="800100"/>
            <a:ext cx="12192000" cy="1270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76DF116-2F94-EAD7-6C59-E309B29E2DD1}"/>
              </a:ext>
            </a:extLst>
          </p:cNvPr>
          <p:cNvSpPr/>
          <p:nvPr/>
        </p:nvSpPr>
        <p:spPr>
          <a:xfrm>
            <a:off x="0" y="0"/>
            <a:ext cx="101600" cy="812800"/>
          </a:xfrm>
          <a:prstGeom prst="rect">
            <a:avLst/>
          </a:prstGeom>
          <a:solidFill>
            <a:srgbClr val="14B8A6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ADB9669-3A87-D7AB-394E-EE8251EDE886}"/>
              </a:ext>
            </a:extLst>
          </p:cNvPr>
          <p:cNvSpPr txBox="1"/>
          <p:nvPr/>
        </p:nvSpPr>
        <p:spPr>
          <a:xfrm>
            <a:off x="355600" y="177800"/>
            <a:ext cx="8128000" cy="456535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2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实训内容与个人分工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7D24CDB-8D30-430D-D9F9-A6FF02ACC944}"/>
              </a:ext>
            </a:extLst>
          </p:cNvPr>
          <p:cNvSpPr txBox="1"/>
          <p:nvPr/>
        </p:nvSpPr>
        <p:spPr>
          <a:xfrm>
            <a:off x="9652000" y="228600"/>
            <a:ext cx="1905000" cy="279564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r"/>
            <a:r>
              <a:rPr lang="zh-CN" altLang="en-US" sz="11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项目定位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38B1366-7E66-0D2B-3AE3-C5ECC0CAC5DD}"/>
              </a:ext>
            </a:extLst>
          </p:cNvPr>
          <p:cNvSpPr txBox="1"/>
          <p:nvPr/>
        </p:nvSpPr>
        <p:spPr>
          <a:xfrm>
            <a:off x="355600" y="6413500"/>
            <a:ext cx="5334000" cy="24878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9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许宇杰｜软件</a:t>
            </a:r>
            <a:r>
              <a:rPr lang="en-US" altLang="zh-CN" sz="9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25-10</a:t>
            </a:r>
            <a:r>
              <a:rPr lang="zh-CN" altLang="en-US" sz="9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｜</a:t>
            </a:r>
            <a:r>
              <a:rPr lang="en-US" altLang="zh-CN" sz="9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LanBoard</a:t>
            </a:r>
            <a:endParaRPr lang="zh-CN" altLang="en-US" sz="950">
              <a:solidFill>
                <a:srgbClr val="6B72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FD8F483-E3E2-6CCA-7B08-9CF7089DA1C8}"/>
              </a:ext>
            </a:extLst>
          </p:cNvPr>
          <p:cNvSpPr txBox="1"/>
          <p:nvPr/>
        </p:nvSpPr>
        <p:spPr>
          <a:xfrm>
            <a:off x="11430000" y="6388100"/>
            <a:ext cx="431800" cy="25648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r"/>
            <a:r>
              <a:rPr lang="en-US" altLang="zh-CN" sz="100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</a:t>
            </a:r>
            <a:endParaRPr lang="zh-CN" altLang="en-US" sz="1000">
              <a:solidFill>
                <a:srgbClr val="6B72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F5AC1EE-C669-7476-79AD-68A172542F89}"/>
              </a:ext>
            </a:extLst>
          </p:cNvPr>
          <p:cNvSpPr/>
          <p:nvPr/>
        </p:nvSpPr>
        <p:spPr>
          <a:xfrm>
            <a:off x="571500" y="1270000"/>
            <a:ext cx="3175000" cy="180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prstShdw prst="shdw1" dist="107763" dir="13500000">
              <a:scrgbClr r="0" g="0" b="0">
                <a:alpha val="50000"/>
              </a:sc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31A20B8-730A-2551-02F3-0463B77C1B26}"/>
              </a:ext>
            </a:extLst>
          </p:cNvPr>
          <p:cNvSpPr/>
          <p:nvPr/>
        </p:nvSpPr>
        <p:spPr>
          <a:xfrm>
            <a:off x="698500" y="1397000"/>
            <a:ext cx="76200" cy="1549400"/>
          </a:xfrm>
          <a:prstGeom prst="rect">
            <a:avLst/>
          </a:prstGeom>
          <a:solidFill>
            <a:srgbClr val="14B8A6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524E0B7-439E-42A2-D024-C582763B0944}"/>
              </a:ext>
            </a:extLst>
          </p:cNvPr>
          <p:cNvSpPr txBox="1"/>
          <p:nvPr/>
        </p:nvSpPr>
        <p:spPr>
          <a:xfrm>
            <a:off x="876300" y="1422400"/>
            <a:ext cx="2743200" cy="38100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项目整体目标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30DADE0-6F31-0F9F-5B69-0480BC644619}"/>
              </a:ext>
            </a:extLst>
          </p:cNvPr>
          <p:cNvSpPr txBox="1"/>
          <p:nvPr/>
        </p:nvSpPr>
        <p:spPr>
          <a:xfrm>
            <a:off x="850900" y="1879600"/>
            <a:ext cx="2743200" cy="1141338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Qt/QML/C++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多游戏联机项目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统一首页、房间、准备、开局和结算流程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支持本地、局域网、在线房间等运行模式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90A877C-8827-61F7-274C-FA0FA0809CBB}"/>
              </a:ext>
            </a:extLst>
          </p:cNvPr>
          <p:cNvSpPr/>
          <p:nvPr/>
        </p:nvSpPr>
        <p:spPr>
          <a:xfrm>
            <a:off x="4508500" y="1270000"/>
            <a:ext cx="3175000" cy="180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prstShdw prst="shdw1" dist="107763" dir="13500000">
              <a:scrgbClr r="0" g="0" b="0">
                <a:alpha val="50000"/>
              </a:sc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7F93B22-1293-8D2A-69FA-D5EAEE360CB7}"/>
              </a:ext>
            </a:extLst>
          </p:cNvPr>
          <p:cNvSpPr/>
          <p:nvPr/>
        </p:nvSpPr>
        <p:spPr>
          <a:xfrm>
            <a:off x="4635500" y="1397000"/>
            <a:ext cx="76200" cy="1549400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D9B3005-09AF-B643-DF72-7CB69200B425}"/>
              </a:ext>
            </a:extLst>
          </p:cNvPr>
          <p:cNvSpPr txBox="1"/>
          <p:nvPr/>
        </p:nvSpPr>
        <p:spPr>
          <a:xfrm>
            <a:off x="4813300" y="1422400"/>
            <a:ext cx="2743200" cy="38100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我负责：斗地主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3468984-FA72-0A74-0C36-9333CC4188BE}"/>
              </a:ext>
            </a:extLst>
          </p:cNvPr>
          <p:cNvSpPr txBox="1"/>
          <p:nvPr/>
        </p:nvSpPr>
        <p:spPr>
          <a:xfrm>
            <a:off x="4787900" y="1879600"/>
            <a:ext cx="2743200" cy="72584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完成三人纸牌对局核心逻辑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实现牌型识别、比较、回合控制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对接 </a:t>
            </a:r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QML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展示和多人状态同步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025850B-8A8F-22A9-6E2C-DBD3285C475A}"/>
              </a:ext>
            </a:extLst>
          </p:cNvPr>
          <p:cNvSpPr/>
          <p:nvPr/>
        </p:nvSpPr>
        <p:spPr>
          <a:xfrm>
            <a:off x="8445500" y="1270000"/>
            <a:ext cx="3175000" cy="180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prstShdw prst="shdw1" dist="107763" dir="13500000">
              <a:scrgbClr r="0" g="0" b="0">
                <a:alpha val="50000"/>
              </a:sc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A32495B-3FA9-6821-A3E5-4CFA938F5708}"/>
              </a:ext>
            </a:extLst>
          </p:cNvPr>
          <p:cNvSpPr/>
          <p:nvPr/>
        </p:nvSpPr>
        <p:spPr>
          <a:xfrm>
            <a:off x="8572500" y="1397000"/>
            <a:ext cx="76200" cy="1549400"/>
          </a:xfrm>
          <a:prstGeom prst="rect">
            <a:avLst/>
          </a:prstGeom>
          <a:solidFill>
            <a:srgbClr val="7C3AED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AF97E4D-833F-DB68-39A4-0DF64B183175}"/>
              </a:ext>
            </a:extLst>
          </p:cNvPr>
          <p:cNvSpPr txBox="1"/>
          <p:nvPr/>
        </p:nvSpPr>
        <p:spPr>
          <a:xfrm>
            <a:off x="8750300" y="1422400"/>
            <a:ext cx="2743200" cy="38100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我负责：弹幕试炼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55A3391-C5BE-6624-368A-E954F324F815}"/>
              </a:ext>
            </a:extLst>
          </p:cNvPr>
          <p:cNvSpPr txBox="1"/>
          <p:nvPr/>
        </p:nvSpPr>
        <p:spPr>
          <a:xfrm>
            <a:off x="8724900" y="1879600"/>
            <a:ext cx="2743200" cy="134908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实现战斗状态、移动、敌人和碰撞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完成自动攻击、经验升级、道具回血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设计武器等级、品质、刷新与合成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80DABF0-B8B2-A936-425E-0B3AE3056D64}"/>
              </a:ext>
            </a:extLst>
          </p:cNvPr>
          <p:cNvSpPr/>
          <p:nvPr/>
        </p:nvSpPr>
        <p:spPr>
          <a:xfrm>
            <a:off x="1143000" y="3708400"/>
            <a:ext cx="4445000" cy="167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prstShdw prst="shdw1" dist="107763" dir="13500000">
              <a:scrgbClr r="0" g="0" b="0">
                <a:alpha val="50000"/>
              </a:sc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D8406EE-9B06-499F-CD76-31ADA32D7356}"/>
              </a:ext>
            </a:extLst>
          </p:cNvPr>
          <p:cNvSpPr/>
          <p:nvPr/>
        </p:nvSpPr>
        <p:spPr>
          <a:xfrm>
            <a:off x="1270000" y="3835400"/>
            <a:ext cx="76200" cy="1422400"/>
          </a:xfrm>
          <a:prstGeom prst="rect">
            <a:avLst/>
          </a:prstGeom>
          <a:solidFill>
            <a:srgbClr val="2563EB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9FE8ADA-264F-E9EE-9521-A8755B9DC11F}"/>
              </a:ext>
            </a:extLst>
          </p:cNvPr>
          <p:cNvSpPr txBox="1"/>
          <p:nvPr/>
        </p:nvSpPr>
        <p:spPr>
          <a:xfrm>
            <a:off x="1447800" y="3860800"/>
            <a:ext cx="4013200" cy="38100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交付结果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86E1F75-9DC8-75F6-0D79-9DA086075912}"/>
              </a:ext>
            </a:extLst>
          </p:cNvPr>
          <p:cNvSpPr txBox="1"/>
          <p:nvPr/>
        </p:nvSpPr>
        <p:spPr>
          <a:xfrm>
            <a:off x="1422400" y="4318000"/>
            <a:ext cx="4013200" cy="72584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两个模块均接入项目主流程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能用于课堂演示和个人答辩说明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覆盖功能实现、调试和长时间运行测试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CE8395CE-544E-5D66-17C3-87D6A65FBDA3}"/>
              </a:ext>
            </a:extLst>
          </p:cNvPr>
          <p:cNvSpPr/>
          <p:nvPr/>
        </p:nvSpPr>
        <p:spPr>
          <a:xfrm>
            <a:off x="6604000" y="3708400"/>
            <a:ext cx="4445000" cy="167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prstShdw prst="shdw1" dist="107763" dir="13500000">
              <a:scrgbClr r="0" g="0" b="0">
                <a:alpha val="50000"/>
              </a:sc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4D0EFDC-C60B-2673-712C-D5B02E82FCC0}"/>
              </a:ext>
            </a:extLst>
          </p:cNvPr>
          <p:cNvSpPr/>
          <p:nvPr/>
        </p:nvSpPr>
        <p:spPr>
          <a:xfrm>
            <a:off x="6731000" y="3835400"/>
            <a:ext cx="76200" cy="1422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8254C819-0581-512A-072E-8DA8F720E4E0}"/>
              </a:ext>
            </a:extLst>
          </p:cNvPr>
          <p:cNvSpPr txBox="1"/>
          <p:nvPr/>
        </p:nvSpPr>
        <p:spPr>
          <a:xfrm>
            <a:off x="6908800" y="3860800"/>
            <a:ext cx="4013200" cy="38100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汇报顺序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EE09A31-17E1-F655-E1E9-EF343BB001A3}"/>
              </a:ext>
            </a:extLst>
          </p:cNvPr>
          <p:cNvSpPr txBox="1"/>
          <p:nvPr/>
        </p:nvSpPr>
        <p:spPr>
          <a:xfrm>
            <a:off x="6883400" y="4318000"/>
            <a:ext cx="4013200" cy="72584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先说明技术栈与开发流程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再展开斗地主和弹幕试炼实现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最后总结协作测试与实训收获</a:t>
            </a:r>
          </a:p>
        </p:txBody>
      </p:sp>
    </p:spTree>
    <p:extLst>
      <p:ext uri="{BB962C8B-B14F-4D97-AF65-F5344CB8AC3E}">
        <p14:creationId xmlns:p14="http://schemas.microsoft.com/office/powerpoint/2010/main" val="476691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E43B231-C257-EE4F-7744-A85110D08AF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06BCB18-D2C4-4A02-F29F-6ECD563FF795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C92A630-3959-5479-07E2-9C2DA47D050C}"/>
              </a:ext>
            </a:extLst>
          </p:cNvPr>
          <p:cNvSpPr/>
          <p:nvPr/>
        </p:nvSpPr>
        <p:spPr>
          <a:xfrm>
            <a:off x="0" y="800100"/>
            <a:ext cx="12192000" cy="1270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AFD6453-7C68-8E1A-69DF-020460235ED0}"/>
              </a:ext>
            </a:extLst>
          </p:cNvPr>
          <p:cNvSpPr/>
          <p:nvPr/>
        </p:nvSpPr>
        <p:spPr>
          <a:xfrm>
            <a:off x="0" y="0"/>
            <a:ext cx="101600" cy="812800"/>
          </a:xfrm>
          <a:prstGeom prst="rect">
            <a:avLst/>
          </a:prstGeom>
          <a:solidFill>
            <a:srgbClr val="14B8A6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E474C96-DDED-2AC0-3D2D-FEBF5A4F5E1B}"/>
              </a:ext>
            </a:extLst>
          </p:cNvPr>
          <p:cNvSpPr txBox="1"/>
          <p:nvPr/>
        </p:nvSpPr>
        <p:spPr>
          <a:xfrm>
            <a:off x="355600" y="177800"/>
            <a:ext cx="8128000" cy="456535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2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技术栈与开发流程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CF67B94-2B85-A432-D730-6EBE09035D82}"/>
              </a:ext>
            </a:extLst>
          </p:cNvPr>
          <p:cNvSpPr txBox="1"/>
          <p:nvPr/>
        </p:nvSpPr>
        <p:spPr>
          <a:xfrm>
            <a:off x="9652000" y="228600"/>
            <a:ext cx="1905000" cy="279564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r"/>
            <a:r>
              <a:rPr lang="zh-CN" altLang="en-US" sz="11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工程基础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BA64D1F-032A-D793-1C8F-4207A79516EE}"/>
              </a:ext>
            </a:extLst>
          </p:cNvPr>
          <p:cNvSpPr txBox="1"/>
          <p:nvPr/>
        </p:nvSpPr>
        <p:spPr>
          <a:xfrm>
            <a:off x="355600" y="6413500"/>
            <a:ext cx="5334000" cy="24878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9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许宇杰｜软件</a:t>
            </a:r>
            <a:r>
              <a:rPr lang="en-US" altLang="zh-CN" sz="9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25-10</a:t>
            </a:r>
            <a:r>
              <a:rPr lang="zh-CN" altLang="en-US" sz="9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｜</a:t>
            </a:r>
            <a:r>
              <a:rPr lang="en-US" altLang="zh-CN" sz="9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LanBoard</a:t>
            </a:r>
            <a:endParaRPr lang="zh-CN" altLang="en-US" sz="950">
              <a:solidFill>
                <a:srgbClr val="6B72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EA72B6C-65A0-8CF0-3A0A-851158214758}"/>
              </a:ext>
            </a:extLst>
          </p:cNvPr>
          <p:cNvSpPr txBox="1"/>
          <p:nvPr/>
        </p:nvSpPr>
        <p:spPr>
          <a:xfrm>
            <a:off x="11430000" y="6388100"/>
            <a:ext cx="431800" cy="25648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r"/>
            <a:r>
              <a:rPr lang="en-US" altLang="zh-CN" sz="100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1000">
              <a:solidFill>
                <a:srgbClr val="6B72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7ED9305-C3B4-6A97-1066-6A25824F769D}"/>
              </a:ext>
            </a:extLst>
          </p:cNvPr>
          <p:cNvSpPr/>
          <p:nvPr/>
        </p:nvSpPr>
        <p:spPr>
          <a:xfrm>
            <a:off x="812800" y="1422400"/>
            <a:ext cx="1905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D736FE2-9AB3-BE06-8D5A-7786A830A048}"/>
              </a:ext>
            </a:extLst>
          </p:cNvPr>
          <p:cNvSpPr txBox="1"/>
          <p:nvPr/>
        </p:nvSpPr>
        <p:spPr>
          <a:xfrm>
            <a:off x="889000" y="1549400"/>
            <a:ext cx="1752600" cy="70275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QML </a:t>
            </a:r>
            <a:r>
              <a:rPr lang="zh-CN" altLang="en-US" sz="1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页面</a:t>
            </a:r>
          </a:p>
          <a:p>
            <a:pPr algn="ctr"/>
            <a:r>
              <a:rPr lang="zh-CN" altLang="en-US" sz="1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界面展示、点击选择、</a:t>
            </a:r>
            <a:r>
              <a:rPr lang="en-US" altLang="zh-CN" sz="1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HUD</a:t>
            </a:r>
            <a:endParaRPr lang="zh-CN" altLang="en-US" sz="1300" b="1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348D6B4C-1BD3-5594-088F-707391993925}"/>
              </a:ext>
            </a:extLst>
          </p:cNvPr>
          <p:cNvCxnSpPr/>
          <p:nvPr/>
        </p:nvCxnSpPr>
        <p:spPr>
          <a:xfrm>
            <a:off x="2717800" y="1765300"/>
            <a:ext cx="381000" cy="0"/>
          </a:xfrm>
          <a:prstGeom prst="line">
            <a:avLst/>
          </a:prstGeom>
          <a:ln w="25400">
            <a:solidFill>
              <a:srgbClr val="6B72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88D66BE-D7A8-D689-0137-A311634AD15C}"/>
              </a:ext>
            </a:extLst>
          </p:cNvPr>
          <p:cNvSpPr/>
          <p:nvPr/>
        </p:nvSpPr>
        <p:spPr>
          <a:xfrm>
            <a:off x="3098800" y="1422400"/>
            <a:ext cx="1905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C83F784-FD30-9471-8828-0010043AB42B}"/>
              </a:ext>
            </a:extLst>
          </p:cNvPr>
          <p:cNvSpPr txBox="1"/>
          <p:nvPr/>
        </p:nvSpPr>
        <p:spPr>
          <a:xfrm>
            <a:off x="3175000" y="1549400"/>
            <a:ext cx="1752600" cy="70275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AppController</a:t>
            </a:r>
          </a:p>
          <a:p>
            <a:pPr algn="ctr"/>
            <a:r>
              <a:rPr lang="zh-CN" altLang="en-US" sz="1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页面导航、事件桥接、模式切换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33030EE0-BB3D-2FA0-3486-040FC4AB6EC1}"/>
              </a:ext>
            </a:extLst>
          </p:cNvPr>
          <p:cNvCxnSpPr/>
          <p:nvPr/>
        </p:nvCxnSpPr>
        <p:spPr>
          <a:xfrm>
            <a:off x="5003800" y="1765300"/>
            <a:ext cx="381000" cy="0"/>
          </a:xfrm>
          <a:prstGeom prst="line">
            <a:avLst/>
          </a:prstGeom>
          <a:ln w="25400">
            <a:solidFill>
              <a:srgbClr val="6B72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B77E3135-3272-F5E3-65A1-5D897A1FA0A1}"/>
              </a:ext>
            </a:extLst>
          </p:cNvPr>
          <p:cNvSpPr/>
          <p:nvPr/>
        </p:nvSpPr>
        <p:spPr>
          <a:xfrm>
            <a:off x="5384800" y="1422400"/>
            <a:ext cx="1905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23A7B6B-7199-39BE-140A-CB1238F502C3}"/>
              </a:ext>
            </a:extLst>
          </p:cNvPr>
          <p:cNvSpPr txBox="1"/>
          <p:nvPr/>
        </p:nvSpPr>
        <p:spPr>
          <a:xfrm>
            <a:off x="5461000" y="1549400"/>
            <a:ext cx="1752600" cy="70275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RoomManager</a:t>
            </a:r>
          </a:p>
          <a:p>
            <a:pPr algn="ctr"/>
            <a:r>
              <a:rPr lang="zh-CN" altLang="en-US" sz="1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座位、准备、房主、房间快照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D2C4FCB5-2EFE-C801-B0E0-4A8AFE9819EC}"/>
              </a:ext>
            </a:extLst>
          </p:cNvPr>
          <p:cNvCxnSpPr/>
          <p:nvPr/>
        </p:nvCxnSpPr>
        <p:spPr>
          <a:xfrm>
            <a:off x="7289800" y="1765300"/>
            <a:ext cx="381000" cy="0"/>
          </a:xfrm>
          <a:prstGeom prst="line">
            <a:avLst/>
          </a:prstGeom>
          <a:ln w="25400">
            <a:solidFill>
              <a:srgbClr val="6B72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16889AA-2E60-8403-C8CB-41DD46673486}"/>
              </a:ext>
            </a:extLst>
          </p:cNvPr>
          <p:cNvSpPr/>
          <p:nvPr/>
        </p:nvSpPr>
        <p:spPr>
          <a:xfrm>
            <a:off x="7670800" y="1422400"/>
            <a:ext cx="1905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980012B-479D-420B-8A47-0D2F95F3023C}"/>
              </a:ext>
            </a:extLst>
          </p:cNvPr>
          <p:cNvSpPr txBox="1"/>
          <p:nvPr/>
        </p:nvSpPr>
        <p:spPr>
          <a:xfrm>
            <a:off x="7747000" y="1549400"/>
            <a:ext cx="1752600" cy="70275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NetworkManager</a:t>
            </a:r>
          </a:p>
          <a:p>
            <a:pPr algn="ctr"/>
            <a:r>
              <a:rPr lang="en-US" altLang="zh-CN" sz="1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UDP </a:t>
            </a:r>
            <a:r>
              <a:rPr lang="zh-CN" altLang="en-US" sz="1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发现、</a:t>
            </a:r>
            <a:r>
              <a:rPr lang="en-US" altLang="zh-CN" sz="1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ENet </a:t>
            </a:r>
            <a:r>
              <a:rPr lang="zh-CN" altLang="en-US" sz="1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会话、在线大厅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031E7F5C-3393-1754-1429-A08259E119A1}"/>
              </a:ext>
            </a:extLst>
          </p:cNvPr>
          <p:cNvCxnSpPr/>
          <p:nvPr/>
        </p:nvCxnSpPr>
        <p:spPr>
          <a:xfrm>
            <a:off x="9575800" y="1765300"/>
            <a:ext cx="381000" cy="0"/>
          </a:xfrm>
          <a:prstGeom prst="line">
            <a:avLst/>
          </a:prstGeom>
          <a:ln w="25400">
            <a:solidFill>
              <a:srgbClr val="6B72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5E3A658A-CD78-E360-E412-A24FCDE74263}"/>
              </a:ext>
            </a:extLst>
          </p:cNvPr>
          <p:cNvSpPr/>
          <p:nvPr/>
        </p:nvSpPr>
        <p:spPr>
          <a:xfrm>
            <a:off x="9956800" y="1422400"/>
            <a:ext cx="1905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5A8CA92-3987-27E8-8D19-61A2021F68B9}"/>
              </a:ext>
            </a:extLst>
          </p:cNvPr>
          <p:cNvSpPr txBox="1"/>
          <p:nvPr/>
        </p:nvSpPr>
        <p:spPr>
          <a:xfrm>
            <a:off x="10033000" y="1549400"/>
            <a:ext cx="1752600" cy="70275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GameController</a:t>
            </a:r>
          </a:p>
          <a:p>
            <a:pPr algn="ctr"/>
            <a:r>
              <a:rPr lang="zh-CN" altLang="en-US" sz="1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斗地主 </a:t>
            </a:r>
            <a:r>
              <a:rPr lang="en-US" altLang="zh-CN" sz="1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Survivor </a:t>
            </a:r>
            <a:r>
              <a:rPr lang="zh-CN" altLang="en-US" sz="1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等游戏控制器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4C714BC9-3BB2-42DC-1011-D6FD71362ABF}"/>
              </a:ext>
            </a:extLst>
          </p:cNvPr>
          <p:cNvSpPr/>
          <p:nvPr/>
        </p:nvSpPr>
        <p:spPr>
          <a:xfrm>
            <a:off x="889000" y="3048000"/>
            <a:ext cx="3175000" cy="180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prstShdw prst="shdw1" dist="107763" dir="13500000">
              <a:scrgbClr r="0" g="0" b="0">
                <a:alpha val="50000"/>
              </a:sc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1A9F67B-CFFF-1051-34C0-002506A968A5}"/>
              </a:ext>
            </a:extLst>
          </p:cNvPr>
          <p:cNvSpPr/>
          <p:nvPr/>
        </p:nvSpPr>
        <p:spPr>
          <a:xfrm>
            <a:off x="1016000" y="3175000"/>
            <a:ext cx="76200" cy="1549400"/>
          </a:xfrm>
          <a:prstGeom prst="rect">
            <a:avLst/>
          </a:prstGeom>
          <a:solidFill>
            <a:srgbClr val="14B8A6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0CAF46F-4EBD-ACE3-DCA9-39B5F499547C}"/>
              </a:ext>
            </a:extLst>
          </p:cNvPr>
          <p:cNvSpPr txBox="1"/>
          <p:nvPr/>
        </p:nvSpPr>
        <p:spPr>
          <a:xfrm>
            <a:off x="1193800" y="3200400"/>
            <a:ext cx="2743200" cy="38100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开发方式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D8C3E52-4992-5E61-DA0A-B4611096ED47}"/>
              </a:ext>
            </a:extLst>
          </p:cNvPr>
          <p:cNvSpPr txBox="1"/>
          <p:nvPr/>
        </p:nvSpPr>
        <p:spPr>
          <a:xfrm>
            <a:off x="1168400" y="3657600"/>
            <a:ext cx="2743200" cy="72584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先实现可运行原型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再接入房间与联机流程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最后做界面交互和异常修复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B8513637-F1D1-E7EA-735A-49A263E6D0B5}"/>
              </a:ext>
            </a:extLst>
          </p:cNvPr>
          <p:cNvSpPr/>
          <p:nvPr/>
        </p:nvSpPr>
        <p:spPr>
          <a:xfrm>
            <a:off x="4508500" y="3048000"/>
            <a:ext cx="3175000" cy="180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prstShdw prst="shdw1" dist="107763" dir="13500000">
              <a:scrgbClr r="0" g="0" b="0">
                <a:alpha val="50000"/>
              </a:sc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4061887-D11F-B0EA-BEF5-DED79EB91825}"/>
              </a:ext>
            </a:extLst>
          </p:cNvPr>
          <p:cNvSpPr/>
          <p:nvPr/>
        </p:nvSpPr>
        <p:spPr>
          <a:xfrm>
            <a:off x="4635500" y="3175000"/>
            <a:ext cx="76200" cy="1549400"/>
          </a:xfrm>
          <a:prstGeom prst="rect">
            <a:avLst/>
          </a:prstGeom>
          <a:solidFill>
            <a:srgbClr val="2563EB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FE88CCA-DBA0-8BD0-A64D-D5C254655289}"/>
              </a:ext>
            </a:extLst>
          </p:cNvPr>
          <p:cNvSpPr txBox="1"/>
          <p:nvPr/>
        </p:nvSpPr>
        <p:spPr>
          <a:xfrm>
            <a:off x="4813300" y="3200400"/>
            <a:ext cx="2743200" cy="38100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模块边界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1A0F94A-CACB-C78E-E314-F0967F5B5BD4}"/>
              </a:ext>
            </a:extLst>
          </p:cNvPr>
          <p:cNvSpPr txBox="1"/>
          <p:nvPr/>
        </p:nvSpPr>
        <p:spPr>
          <a:xfrm>
            <a:off x="4787900" y="3657600"/>
            <a:ext cx="2743200" cy="72584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QML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负责展示和输入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C++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控制器负责规则与状态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网络层只传递必要状态和操作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E6A325F3-08F0-1725-A608-F1F9704A5268}"/>
              </a:ext>
            </a:extLst>
          </p:cNvPr>
          <p:cNvSpPr/>
          <p:nvPr/>
        </p:nvSpPr>
        <p:spPr>
          <a:xfrm>
            <a:off x="8128000" y="3048000"/>
            <a:ext cx="3175000" cy="180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prstShdw prst="shdw1" dist="107763" dir="13500000">
              <a:scrgbClr r="0" g="0" b="0">
                <a:alpha val="50000"/>
              </a:sc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F184F16-F556-E081-5CA8-F8E20DBDD8E2}"/>
              </a:ext>
            </a:extLst>
          </p:cNvPr>
          <p:cNvSpPr/>
          <p:nvPr/>
        </p:nvSpPr>
        <p:spPr>
          <a:xfrm>
            <a:off x="8255000" y="3175000"/>
            <a:ext cx="76200" cy="1549400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B738F5C-8E52-D38B-98B4-896E103AEDA5}"/>
              </a:ext>
            </a:extLst>
          </p:cNvPr>
          <p:cNvSpPr txBox="1"/>
          <p:nvPr/>
        </p:nvSpPr>
        <p:spPr>
          <a:xfrm>
            <a:off x="8432800" y="3200400"/>
            <a:ext cx="2743200" cy="38100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验证方式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AB1B894-4C3B-D073-E886-6CE595213CCE}"/>
              </a:ext>
            </a:extLst>
          </p:cNvPr>
          <p:cNvSpPr txBox="1"/>
          <p:nvPr/>
        </p:nvSpPr>
        <p:spPr>
          <a:xfrm>
            <a:off x="8407400" y="3657600"/>
            <a:ext cx="2743200" cy="72584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本地单机先跑通基本流程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局域网和在线房间验证同步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移动端横屏检查布局和性能</a:t>
            </a:r>
          </a:p>
        </p:txBody>
      </p:sp>
    </p:spTree>
    <p:extLst>
      <p:ext uri="{BB962C8B-B14F-4D97-AF65-F5344CB8AC3E}">
        <p14:creationId xmlns:p14="http://schemas.microsoft.com/office/powerpoint/2010/main" val="2322826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3B8EA8E-7C89-E70A-57F1-20A6F6B92E5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7E15D39-A889-45B0-0557-2615E1176E1E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176F7FB-3680-8085-203F-A5B3ADE46E21}"/>
              </a:ext>
            </a:extLst>
          </p:cNvPr>
          <p:cNvSpPr/>
          <p:nvPr/>
        </p:nvSpPr>
        <p:spPr>
          <a:xfrm>
            <a:off x="0" y="800100"/>
            <a:ext cx="12192000" cy="1270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0E4C4AD-4F6B-1942-E696-A3523EFF8F8E}"/>
              </a:ext>
            </a:extLst>
          </p:cNvPr>
          <p:cNvSpPr/>
          <p:nvPr/>
        </p:nvSpPr>
        <p:spPr>
          <a:xfrm>
            <a:off x="0" y="0"/>
            <a:ext cx="101600" cy="812800"/>
          </a:xfrm>
          <a:prstGeom prst="rect">
            <a:avLst/>
          </a:prstGeom>
          <a:solidFill>
            <a:srgbClr val="14B8A6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D60CF4F-9EBC-8EE5-E496-A36FD5D68AD4}"/>
              </a:ext>
            </a:extLst>
          </p:cNvPr>
          <p:cNvSpPr txBox="1"/>
          <p:nvPr/>
        </p:nvSpPr>
        <p:spPr>
          <a:xfrm>
            <a:off x="355600" y="177800"/>
            <a:ext cx="8128000" cy="456535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2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斗地主模块功能实现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ECD78E9-35EE-2E8D-A92E-2C3DEAEF6358}"/>
              </a:ext>
            </a:extLst>
          </p:cNvPr>
          <p:cNvSpPr txBox="1"/>
          <p:nvPr/>
        </p:nvSpPr>
        <p:spPr>
          <a:xfrm>
            <a:off x="9652000" y="228600"/>
            <a:ext cx="1905000" cy="279564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r"/>
            <a:r>
              <a:rPr lang="zh-CN" altLang="en-US" sz="11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纸牌对局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70022CF-45C4-7C9E-6EC3-103D83335E48}"/>
              </a:ext>
            </a:extLst>
          </p:cNvPr>
          <p:cNvSpPr txBox="1"/>
          <p:nvPr/>
        </p:nvSpPr>
        <p:spPr>
          <a:xfrm>
            <a:off x="355600" y="6413500"/>
            <a:ext cx="5334000" cy="24878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9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许宇杰｜软件</a:t>
            </a:r>
            <a:r>
              <a:rPr lang="en-US" altLang="zh-CN" sz="9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25-10</a:t>
            </a:r>
            <a:r>
              <a:rPr lang="zh-CN" altLang="en-US" sz="9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｜</a:t>
            </a:r>
            <a:r>
              <a:rPr lang="en-US" altLang="zh-CN" sz="9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LanBoard</a:t>
            </a:r>
            <a:endParaRPr lang="zh-CN" altLang="en-US" sz="950">
              <a:solidFill>
                <a:srgbClr val="6B72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328F143-0A64-CB96-A058-0FC6FA502805}"/>
              </a:ext>
            </a:extLst>
          </p:cNvPr>
          <p:cNvSpPr txBox="1"/>
          <p:nvPr/>
        </p:nvSpPr>
        <p:spPr>
          <a:xfrm>
            <a:off x="11430000" y="6388100"/>
            <a:ext cx="431800" cy="25648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r"/>
            <a:r>
              <a:rPr lang="en-US" altLang="zh-CN" sz="100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endParaRPr lang="zh-CN" altLang="en-US" sz="1000">
              <a:solidFill>
                <a:srgbClr val="6B72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8109477-2927-1DAC-1807-4CA67B273702}"/>
              </a:ext>
            </a:extLst>
          </p:cNvPr>
          <p:cNvSpPr/>
          <p:nvPr/>
        </p:nvSpPr>
        <p:spPr>
          <a:xfrm>
            <a:off x="609600" y="1346200"/>
            <a:ext cx="33020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prstShdw prst="shdw1" dist="107763" dir="13500000">
              <a:scrgbClr r="0" g="0" b="0">
                <a:alpha val="50000"/>
              </a:sc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5879F01-7E7A-88FF-95D6-043A486E234D}"/>
              </a:ext>
            </a:extLst>
          </p:cNvPr>
          <p:cNvSpPr/>
          <p:nvPr/>
        </p:nvSpPr>
        <p:spPr>
          <a:xfrm>
            <a:off x="736600" y="1473200"/>
            <a:ext cx="76200" cy="3556000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9DA83E1-209A-492C-6A8A-B9F25BFF79C9}"/>
              </a:ext>
            </a:extLst>
          </p:cNvPr>
          <p:cNvSpPr txBox="1"/>
          <p:nvPr/>
        </p:nvSpPr>
        <p:spPr>
          <a:xfrm>
            <a:off x="914400" y="1498600"/>
            <a:ext cx="2870200" cy="38100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牌局初始化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6BD3687-4BEE-134E-8580-1767C998F85A}"/>
              </a:ext>
            </a:extLst>
          </p:cNvPr>
          <p:cNvSpPr txBox="1"/>
          <p:nvPr/>
        </p:nvSpPr>
        <p:spPr>
          <a:xfrm>
            <a:off x="889000" y="1955800"/>
            <a:ext cx="2870200" cy="1141338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创建 </a:t>
            </a:r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54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张牌，包含大小王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洗牌后分发三名玩家手牌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保留底牌并在叫地主后归属地主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按点数和花色排序，便于展示与判断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4C62ECF-BFBA-380D-72E7-16DC69421990}"/>
              </a:ext>
            </a:extLst>
          </p:cNvPr>
          <p:cNvSpPr/>
          <p:nvPr/>
        </p:nvSpPr>
        <p:spPr>
          <a:xfrm>
            <a:off x="4445000" y="1346200"/>
            <a:ext cx="33020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prstShdw prst="shdw1" dist="107763" dir="13500000">
              <a:scrgbClr r="0" g="0" b="0">
                <a:alpha val="50000"/>
              </a:sc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D229CD3-BE03-98A6-F5AC-01F1AB082810}"/>
              </a:ext>
            </a:extLst>
          </p:cNvPr>
          <p:cNvSpPr/>
          <p:nvPr/>
        </p:nvSpPr>
        <p:spPr>
          <a:xfrm>
            <a:off x="4572000" y="1473200"/>
            <a:ext cx="76200" cy="3556000"/>
          </a:xfrm>
          <a:prstGeom prst="rect">
            <a:avLst/>
          </a:prstGeom>
          <a:solidFill>
            <a:srgbClr val="14B8A6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F9F8FDF-3EE2-CFFB-8597-998A74E17CDE}"/>
              </a:ext>
            </a:extLst>
          </p:cNvPr>
          <p:cNvSpPr txBox="1"/>
          <p:nvPr/>
        </p:nvSpPr>
        <p:spPr>
          <a:xfrm>
            <a:off x="4749800" y="1498600"/>
            <a:ext cx="2870200" cy="38100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对局流程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8C2D62C-B92F-9AC9-37F5-DF8365D925BC}"/>
              </a:ext>
            </a:extLst>
          </p:cNvPr>
          <p:cNvSpPr txBox="1"/>
          <p:nvPr/>
        </p:nvSpPr>
        <p:spPr>
          <a:xfrm>
            <a:off x="4724400" y="1955800"/>
            <a:ext cx="2870200" cy="134908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维护当前出牌玩家和上一手牌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支持出牌、不要、轮转和胜负检测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根据上一手牌给出基础提示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加入基础 </a:t>
            </a:r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，保证演示时能完整跑局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7240B7E-31CF-1F7A-F680-99EC3E5FF4C8}"/>
              </a:ext>
            </a:extLst>
          </p:cNvPr>
          <p:cNvSpPr/>
          <p:nvPr/>
        </p:nvSpPr>
        <p:spPr>
          <a:xfrm>
            <a:off x="8280400" y="1346200"/>
            <a:ext cx="33020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prstShdw prst="shdw1" dist="107763" dir="13500000">
              <a:scrgbClr r="0" g="0" b="0">
                <a:alpha val="50000"/>
              </a:sc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DCDF50F-8AA2-C441-EEF3-0B7BB8F3285F}"/>
              </a:ext>
            </a:extLst>
          </p:cNvPr>
          <p:cNvSpPr/>
          <p:nvPr/>
        </p:nvSpPr>
        <p:spPr>
          <a:xfrm>
            <a:off x="8407400" y="1473200"/>
            <a:ext cx="76200" cy="3556000"/>
          </a:xfrm>
          <a:prstGeom prst="rect">
            <a:avLst/>
          </a:prstGeom>
          <a:solidFill>
            <a:srgbClr val="2563EB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82A285B-D904-D716-92AD-C12AAF6282D2}"/>
              </a:ext>
            </a:extLst>
          </p:cNvPr>
          <p:cNvSpPr txBox="1"/>
          <p:nvPr/>
        </p:nvSpPr>
        <p:spPr>
          <a:xfrm>
            <a:off x="8585200" y="1498600"/>
            <a:ext cx="2870200" cy="38100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界面与联机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9AFF782-F31C-2E15-21DD-A20D0A87CBF2}"/>
              </a:ext>
            </a:extLst>
          </p:cNvPr>
          <p:cNvSpPr txBox="1"/>
          <p:nvPr/>
        </p:nvSpPr>
        <p:spPr>
          <a:xfrm>
            <a:off x="8559800" y="1955800"/>
            <a:ext cx="2870200" cy="134908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把 </a:t>
            </a:r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C++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手牌数据转换为 </a:t>
            </a:r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QML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可用模型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QML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中支持选牌、取消选择和操作提示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JSON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同步多人牌局状态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不同玩家视角隐藏私有手牌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7335E17D-E59A-D025-4B24-C6997B2D9C04}"/>
              </a:ext>
            </a:extLst>
          </p:cNvPr>
          <p:cNvSpPr/>
          <p:nvPr/>
        </p:nvSpPr>
        <p:spPr>
          <a:xfrm>
            <a:off x="1219200" y="5410200"/>
            <a:ext cx="711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BD170E5-B193-FB32-E9DC-C11F523A7DD7}"/>
              </a:ext>
            </a:extLst>
          </p:cNvPr>
          <p:cNvSpPr txBox="1"/>
          <p:nvPr/>
        </p:nvSpPr>
        <p:spPr>
          <a:xfrm>
            <a:off x="1282700" y="5715000"/>
            <a:ext cx="584200" cy="41036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sz="1000" b="1">
                <a:solidFill>
                  <a:srgbClr val="EF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JOKER</a:t>
            </a:r>
            <a:endParaRPr lang="zh-CN" altLang="en-US" sz="1000" b="1">
              <a:solidFill>
                <a:srgbClr val="EF44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246DA3D5-50F6-53E7-9B2E-96CA866084F6}"/>
              </a:ext>
            </a:extLst>
          </p:cNvPr>
          <p:cNvSpPr/>
          <p:nvPr/>
        </p:nvSpPr>
        <p:spPr>
          <a:xfrm>
            <a:off x="2032000" y="5410200"/>
            <a:ext cx="711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43DC843-7FEB-C299-B056-3509F52563E8}"/>
              </a:ext>
            </a:extLst>
          </p:cNvPr>
          <p:cNvSpPr txBox="1"/>
          <p:nvPr/>
        </p:nvSpPr>
        <p:spPr>
          <a:xfrm>
            <a:off x="2184400" y="5562600"/>
            <a:ext cx="406400" cy="44114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sz="22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lang="zh-CN" altLang="en-US" sz="2200" b="1">
              <a:solidFill>
                <a:srgbClr val="1F293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30A34DB-7BCD-7447-59A8-BA869672E2E8}"/>
              </a:ext>
            </a:extLst>
          </p:cNvPr>
          <p:cNvSpPr txBox="1"/>
          <p:nvPr/>
        </p:nvSpPr>
        <p:spPr>
          <a:xfrm>
            <a:off x="2184400" y="5943600"/>
            <a:ext cx="406400" cy="37959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zh-CN" altLang="en-US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♣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75D758F1-1FE5-E308-F200-C5540402C6FE}"/>
              </a:ext>
            </a:extLst>
          </p:cNvPr>
          <p:cNvSpPr/>
          <p:nvPr/>
        </p:nvSpPr>
        <p:spPr>
          <a:xfrm>
            <a:off x="2844800" y="5410200"/>
            <a:ext cx="711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34E1E56-9E70-43EF-EA4F-43E86E2C75DF}"/>
              </a:ext>
            </a:extLst>
          </p:cNvPr>
          <p:cNvSpPr txBox="1"/>
          <p:nvPr/>
        </p:nvSpPr>
        <p:spPr>
          <a:xfrm>
            <a:off x="2997200" y="5562600"/>
            <a:ext cx="406400" cy="44114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sz="2200" b="1">
                <a:solidFill>
                  <a:srgbClr val="EF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endParaRPr lang="zh-CN" altLang="en-US" sz="2200" b="1">
              <a:solidFill>
                <a:srgbClr val="EF4444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BECBD5B-21C2-78DC-B189-26B8686CDCEA}"/>
              </a:ext>
            </a:extLst>
          </p:cNvPr>
          <p:cNvSpPr txBox="1"/>
          <p:nvPr/>
        </p:nvSpPr>
        <p:spPr>
          <a:xfrm>
            <a:off x="2997200" y="5943600"/>
            <a:ext cx="406400" cy="37959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zh-CN" altLang="en-US" b="1">
                <a:solidFill>
                  <a:srgbClr val="EF444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♦</a:t>
            </a:r>
          </a:p>
        </p:txBody>
      </p:sp>
    </p:spTree>
    <p:extLst>
      <p:ext uri="{BB962C8B-B14F-4D97-AF65-F5344CB8AC3E}">
        <p14:creationId xmlns:p14="http://schemas.microsoft.com/office/powerpoint/2010/main" val="2247251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F182B3E-2A43-61CC-5EC4-65717C7C3A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D39D132-B51A-4732-5A98-94AB862E913D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63E492-D3D0-D007-71DF-96EE9A70C4CA}"/>
              </a:ext>
            </a:extLst>
          </p:cNvPr>
          <p:cNvSpPr/>
          <p:nvPr/>
        </p:nvSpPr>
        <p:spPr>
          <a:xfrm>
            <a:off x="0" y="800100"/>
            <a:ext cx="12192000" cy="1270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5F94B0B-A496-FB6C-679B-07BB0A8F9471}"/>
              </a:ext>
            </a:extLst>
          </p:cNvPr>
          <p:cNvSpPr/>
          <p:nvPr/>
        </p:nvSpPr>
        <p:spPr>
          <a:xfrm>
            <a:off x="0" y="0"/>
            <a:ext cx="101600" cy="812800"/>
          </a:xfrm>
          <a:prstGeom prst="rect">
            <a:avLst/>
          </a:prstGeom>
          <a:solidFill>
            <a:srgbClr val="14B8A6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0F192D8-BD0E-C6BC-D6BD-7B804BDB8377}"/>
              </a:ext>
            </a:extLst>
          </p:cNvPr>
          <p:cNvSpPr txBox="1"/>
          <p:nvPr/>
        </p:nvSpPr>
        <p:spPr>
          <a:xfrm>
            <a:off x="355600" y="177800"/>
            <a:ext cx="8128000" cy="456535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2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斗地主牌型识别与比较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2FE7057-1891-2F09-C9E7-BB2944CCA341}"/>
              </a:ext>
            </a:extLst>
          </p:cNvPr>
          <p:cNvSpPr txBox="1"/>
          <p:nvPr/>
        </p:nvSpPr>
        <p:spPr>
          <a:xfrm>
            <a:off x="9652000" y="228600"/>
            <a:ext cx="1905000" cy="279564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r"/>
            <a:r>
              <a:rPr lang="zh-CN" altLang="en-US" sz="11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核心规则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3479B8B-B1DF-046C-EF83-0AE3D93A3F08}"/>
              </a:ext>
            </a:extLst>
          </p:cNvPr>
          <p:cNvSpPr txBox="1"/>
          <p:nvPr/>
        </p:nvSpPr>
        <p:spPr>
          <a:xfrm>
            <a:off x="355600" y="6413500"/>
            <a:ext cx="5334000" cy="24878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9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许宇杰｜软件</a:t>
            </a:r>
            <a:r>
              <a:rPr lang="en-US" altLang="zh-CN" sz="9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25-10</a:t>
            </a:r>
            <a:r>
              <a:rPr lang="zh-CN" altLang="en-US" sz="9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｜</a:t>
            </a:r>
            <a:r>
              <a:rPr lang="en-US" altLang="zh-CN" sz="9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LanBoard</a:t>
            </a:r>
            <a:endParaRPr lang="zh-CN" altLang="en-US" sz="950">
              <a:solidFill>
                <a:srgbClr val="6B72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35D475B-5411-9963-CC7D-0EC2A165A0BF}"/>
              </a:ext>
            </a:extLst>
          </p:cNvPr>
          <p:cNvSpPr txBox="1"/>
          <p:nvPr/>
        </p:nvSpPr>
        <p:spPr>
          <a:xfrm>
            <a:off x="11430000" y="6388100"/>
            <a:ext cx="431800" cy="25648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r"/>
            <a:r>
              <a:rPr lang="en-US" altLang="zh-CN" sz="100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</a:t>
            </a:r>
            <a:endParaRPr lang="zh-CN" altLang="en-US" sz="1000">
              <a:solidFill>
                <a:srgbClr val="6B72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9D8A994-FD34-7E2E-9671-7593EFD08B0E}"/>
              </a:ext>
            </a:extLst>
          </p:cNvPr>
          <p:cNvSpPr/>
          <p:nvPr/>
        </p:nvSpPr>
        <p:spPr>
          <a:xfrm>
            <a:off x="939800" y="1473200"/>
            <a:ext cx="1651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CEC7145-7214-CE7C-BDAA-291A6ED8BA54}"/>
              </a:ext>
            </a:extLst>
          </p:cNvPr>
          <p:cNvSpPr txBox="1"/>
          <p:nvPr/>
        </p:nvSpPr>
        <p:spPr>
          <a:xfrm>
            <a:off x="1016000" y="1600200"/>
            <a:ext cx="1498600" cy="30264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QML </a:t>
            </a:r>
            <a:r>
              <a:rPr lang="zh-CN" altLang="en-US" sz="1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选牌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CDD54EB-9734-4FA7-9161-8CD18363348A}"/>
              </a:ext>
            </a:extLst>
          </p:cNvPr>
          <p:cNvCxnSpPr/>
          <p:nvPr/>
        </p:nvCxnSpPr>
        <p:spPr>
          <a:xfrm>
            <a:off x="2590800" y="1816100"/>
            <a:ext cx="431800" cy="0"/>
          </a:xfrm>
          <a:prstGeom prst="line">
            <a:avLst/>
          </a:prstGeom>
          <a:ln w="25400">
            <a:solidFill>
              <a:srgbClr val="6B72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8775D14-5799-5DB9-6699-D755B11A50AD}"/>
              </a:ext>
            </a:extLst>
          </p:cNvPr>
          <p:cNvSpPr/>
          <p:nvPr/>
        </p:nvSpPr>
        <p:spPr>
          <a:xfrm>
            <a:off x="3124200" y="1473200"/>
            <a:ext cx="1778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FA9EB0F-6F49-A8F9-3942-0F74AAF662E5}"/>
              </a:ext>
            </a:extLst>
          </p:cNvPr>
          <p:cNvSpPr txBox="1"/>
          <p:nvPr/>
        </p:nvSpPr>
        <p:spPr>
          <a:xfrm>
            <a:off x="3200400" y="1600200"/>
            <a:ext cx="1625600" cy="30264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zh-CN" altLang="en-US" sz="1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排序归一化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19CC7AD1-FC52-B51F-2BBE-0A364ED6F7EB}"/>
              </a:ext>
            </a:extLst>
          </p:cNvPr>
          <p:cNvCxnSpPr/>
          <p:nvPr/>
        </p:nvCxnSpPr>
        <p:spPr>
          <a:xfrm>
            <a:off x="4902200" y="1816100"/>
            <a:ext cx="431800" cy="0"/>
          </a:xfrm>
          <a:prstGeom prst="line">
            <a:avLst/>
          </a:prstGeom>
          <a:ln w="25400">
            <a:solidFill>
              <a:srgbClr val="6B72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0D088B3-99BB-C8FD-CB91-154D840B48B2}"/>
              </a:ext>
            </a:extLst>
          </p:cNvPr>
          <p:cNvSpPr/>
          <p:nvPr/>
        </p:nvSpPr>
        <p:spPr>
          <a:xfrm>
            <a:off x="5435600" y="1473200"/>
            <a:ext cx="1778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EB562AF-268B-29D7-97BA-3F91877ADE85}"/>
              </a:ext>
            </a:extLst>
          </p:cNvPr>
          <p:cNvSpPr txBox="1"/>
          <p:nvPr/>
        </p:nvSpPr>
        <p:spPr>
          <a:xfrm>
            <a:off x="5511800" y="1600200"/>
            <a:ext cx="1625600" cy="30264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zh-CN" altLang="en-US" sz="1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牌型判断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CFFA2858-0F05-279A-4752-D458B3B0DBF7}"/>
              </a:ext>
            </a:extLst>
          </p:cNvPr>
          <p:cNvCxnSpPr/>
          <p:nvPr/>
        </p:nvCxnSpPr>
        <p:spPr>
          <a:xfrm>
            <a:off x="7213600" y="1816100"/>
            <a:ext cx="431800" cy="0"/>
          </a:xfrm>
          <a:prstGeom prst="line">
            <a:avLst/>
          </a:prstGeom>
          <a:ln w="25400">
            <a:solidFill>
              <a:srgbClr val="6B72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E95E8ED-F306-B160-4CD5-E9F51408683C}"/>
              </a:ext>
            </a:extLst>
          </p:cNvPr>
          <p:cNvSpPr/>
          <p:nvPr/>
        </p:nvSpPr>
        <p:spPr>
          <a:xfrm>
            <a:off x="7747000" y="1473200"/>
            <a:ext cx="1778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142472E-DD65-F8F3-F9A9-D8CB4E0F3A41}"/>
              </a:ext>
            </a:extLst>
          </p:cNvPr>
          <p:cNvSpPr txBox="1"/>
          <p:nvPr/>
        </p:nvSpPr>
        <p:spPr>
          <a:xfrm>
            <a:off x="7823200" y="1600200"/>
            <a:ext cx="1625600" cy="30264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zh-CN" altLang="en-US" sz="1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大小比较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1046A7A7-F268-D466-F8CF-4C88204A057E}"/>
              </a:ext>
            </a:extLst>
          </p:cNvPr>
          <p:cNvCxnSpPr/>
          <p:nvPr/>
        </p:nvCxnSpPr>
        <p:spPr>
          <a:xfrm>
            <a:off x="9525000" y="1816100"/>
            <a:ext cx="431800" cy="0"/>
          </a:xfrm>
          <a:prstGeom prst="line">
            <a:avLst/>
          </a:prstGeom>
          <a:ln w="25400">
            <a:solidFill>
              <a:srgbClr val="6B72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799FC1CE-C0C4-F2DA-A52C-77C625309B92}"/>
              </a:ext>
            </a:extLst>
          </p:cNvPr>
          <p:cNvSpPr/>
          <p:nvPr/>
        </p:nvSpPr>
        <p:spPr>
          <a:xfrm>
            <a:off x="10058400" y="1473200"/>
            <a:ext cx="1651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AA78EA9-6F46-0D20-16A6-FC832644738F}"/>
              </a:ext>
            </a:extLst>
          </p:cNvPr>
          <p:cNvSpPr txBox="1"/>
          <p:nvPr/>
        </p:nvSpPr>
        <p:spPr>
          <a:xfrm>
            <a:off x="10134600" y="1600200"/>
            <a:ext cx="1498600" cy="30264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zh-CN" altLang="en-US" sz="1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出牌 </a:t>
            </a:r>
            <a:r>
              <a:rPr lang="en-US" altLang="zh-CN" sz="1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提示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4E28902D-0C24-B903-79B1-1E7D8B937521}"/>
              </a:ext>
            </a:extLst>
          </p:cNvPr>
          <p:cNvSpPr/>
          <p:nvPr/>
        </p:nvSpPr>
        <p:spPr>
          <a:xfrm>
            <a:off x="1066800" y="2946400"/>
            <a:ext cx="1092200" cy="3302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32E449D-3CFF-83BE-C6AA-AC186BA56A6A}"/>
              </a:ext>
            </a:extLst>
          </p:cNvPr>
          <p:cNvSpPr txBox="1"/>
          <p:nvPr/>
        </p:nvSpPr>
        <p:spPr>
          <a:xfrm>
            <a:off x="1066800" y="2971800"/>
            <a:ext cx="1092200" cy="279564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zh-CN" altLang="en-US" sz="115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单张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5601D20-0C3E-D301-B5CF-A18AD81B2F42}"/>
              </a:ext>
            </a:extLst>
          </p:cNvPr>
          <p:cNvSpPr/>
          <p:nvPr/>
        </p:nvSpPr>
        <p:spPr>
          <a:xfrm>
            <a:off x="2387600" y="2946400"/>
            <a:ext cx="1092200" cy="3302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B71BD3C-F933-AF33-B075-CA8A9716BEE2}"/>
              </a:ext>
            </a:extLst>
          </p:cNvPr>
          <p:cNvSpPr txBox="1"/>
          <p:nvPr/>
        </p:nvSpPr>
        <p:spPr>
          <a:xfrm>
            <a:off x="2387600" y="2971800"/>
            <a:ext cx="1092200" cy="279564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zh-CN" altLang="en-US" sz="115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对子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10D39EB0-54CC-EAE1-BE24-9AADFE2E6912}"/>
              </a:ext>
            </a:extLst>
          </p:cNvPr>
          <p:cNvSpPr/>
          <p:nvPr/>
        </p:nvSpPr>
        <p:spPr>
          <a:xfrm>
            <a:off x="3708400" y="2946400"/>
            <a:ext cx="1092200" cy="3302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B632A80-2E4C-1604-DCEF-ABAACE4FB925}"/>
              </a:ext>
            </a:extLst>
          </p:cNvPr>
          <p:cNvSpPr txBox="1"/>
          <p:nvPr/>
        </p:nvSpPr>
        <p:spPr>
          <a:xfrm>
            <a:off x="3708400" y="2971800"/>
            <a:ext cx="1092200" cy="279564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zh-CN" altLang="en-US" sz="115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三张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1B057D8B-01E2-23F3-DA7C-2928FEC5562F}"/>
              </a:ext>
            </a:extLst>
          </p:cNvPr>
          <p:cNvSpPr/>
          <p:nvPr/>
        </p:nvSpPr>
        <p:spPr>
          <a:xfrm>
            <a:off x="5029200" y="2946400"/>
            <a:ext cx="1092200" cy="3302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6A74894-E3B1-F75A-F883-3B70A899C3F4}"/>
              </a:ext>
            </a:extLst>
          </p:cNvPr>
          <p:cNvSpPr txBox="1"/>
          <p:nvPr/>
        </p:nvSpPr>
        <p:spPr>
          <a:xfrm>
            <a:off x="5029200" y="2971800"/>
            <a:ext cx="1092200" cy="279564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zh-CN" altLang="en-US" sz="115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三带一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537B55A6-C1E7-FD66-011D-50B8F4157450}"/>
              </a:ext>
            </a:extLst>
          </p:cNvPr>
          <p:cNvSpPr/>
          <p:nvPr/>
        </p:nvSpPr>
        <p:spPr>
          <a:xfrm>
            <a:off x="6350000" y="2946400"/>
            <a:ext cx="1092200" cy="3302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B0A4342-0425-96B6-056C-D734C003D32C}"/>
              </a:ext>
            </a:extLst>
          </p:cNvPr>
          <p:cNvSpPr txBox="1"/>
          <p:nvPr/>
        </p:nvSpPr>
        <p:spPr>
          <a:xfrm>
            <a:off x="6350000" y="2971800"/>
            <a:ext cx="1092200" cy="279564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zh-CN" altLang="en-US" sz="115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三带二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2F6F5272-F5F0-1B4F-70F1-B5C42E8A795F}"/>
              </a:ext>
            </a:extLst>
          </p:cNvPr>
          <p:cNvSpPr/>
          <p:nvPr/>
        </p:nvSpPr>
        <p:spPr>
          <a:xfrm>
            <a:off x="7670800" y="2946400"/>
            <a:ext cx="1092200" cy="3302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99EAD7F-A823-B63B-D190-D16CB73578E9}"/>
              </a:ext>
            </a:extLst>
          </p:cNvPr>
          <p:cNvSpPr txBox="1"/>
          <p:nvPr/>
        </p:nvSpPr>
        <p:spPr>
          <a:xfrm>
            <a:off x="7670800" y="2971800"/>
            <a:ext cx="1092200" cy="279564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zh-CN" altLang="en-US" sz="115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顺子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C2EBDD13-C2D6-E4C5-4610-C89101CE13E5}"/>
              </a:ext>
            </a:extLst>
          </p:cNvPr>
          <p:cNvSpPr/>
          <p:nvPr/>
        </p:nvSpPr>
        <p:spPr>
          <a:xfrm>
            <a:off x="8991600" y="2946400"/>
            <a:ext cx="1092200" cy="3302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239CDE02-B0AE-C64E-9C1C-46DDAEB82E28}"/>
              </a:ext>
            </a:extLst>
          </p:cNvPr>
          <p:cNvSpPr txBox="1"/>
          <p:nvPr/>
        </p:nvSpPr>
        <p:spPr>
          <a:xfrm>
            <a:off x="8991600" y="2971800"/>
            <a:ext cx="1092200" cy="279564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zh-CN" altLang="en-US" sz="115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连对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BBD36B74-5CC1-E93D-8C18-6906A020E3F2}"/>
              </a:ext>
            </a:extLst>
          </p:cNvPr>
          <p:cNvSpPr/>
          <p:nvPr/>
        </p:nvSpPr>
        <p:spPr>
          <a:xfrm>
            <a:off x="1066800" y="3479800"/>
            <a:ext cx="1092200" cy="3302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442F984-647B-B54A-6A5F-56FCF9F48EC9}"/>
              </a:ext>
            </a:extLst>
          </p:cNvPr>
          <p:cNvSpPr txBox="1"/>
          <p:nvPr/>
        </p:nvSpPr>
        <p:spPr>
          <a:xfrm>
            <a:off x="1066800" y="3505200"/>
            <a:ext cx="1092200" cy="279564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zh-CN" altLang="en-US" sz="115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飞机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07D273D3-2CE4-13DB-972A-665F877EE1EB}"/>
              </a:ext>
            </a:extLst>
          </p:cNvPr>
          <p:cNvSpPr/>
          <p:nvPr/>
        </p:nvSpPr>
        <p:spPr>
          <a:xfrm>
            <a:off x="2387600" y="3479800"/>
            <a:ext cx="1092200" cy="3302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8DE9B933-0104-8138-EFB8-A2729149F5BC}"/>
              </a:ext>
            </a:extLst>
          </p:cNvPr>
          <p:cNvSpPr txBox="1"/>
          <p:nvPr/>
        </p:nvSpPr>
        <p:spPr>
          <a:xfrm>
            <a:off x="2387600" y="3505200"/>
            <a:ext cx="1092200" cy="279564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zh-CN" altLang="en-US" sz="115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炸弹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EA15133E-08B9-19EA-5B5D-9D4EE5FFB00D}"/>
              </a:ext>
            </a:extLst>
          </p:cNvPr>
          <p:cNvSpPr/>
          <p:nvPr/>
        </p:nvSpPr>
        <p:spPr>
          <a:xfrm>
            <a:off x="3708400" y="3479800"/>
            <a:ext cx="1092200" cy="3302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7F4325B-DCCA-8AB6-555A-E1285595C3A2}"/>
              </a:ext>
            </a:extLst>
          </p:cNvPr>
          <p:cNvSpPr txBox="1"/>
          <p:nvPr/>
        </p:nvSpPr>
        <p:spPr>
          <a:xfrm>
            <a:off x="3708400" y="3505200"/>
            <a:ext cx="1092200" cy="279564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zh-CN" altLang="en-US" sz="1150" b="1">
                <a:solidFill>
                  <a:srgbClr val="2563E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王炸</a:t>
            </a: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1FAB67DF-75B5-E19A-1840-A97DA3284173}"/>
              </a:ext>
            </a:extLst>
          </p:cNvPr>
          <p:cNvSpPr/>
          <p:nvPr/>
        </p:nvSpPr>
        <p:spPr>
          <a:xfrm>
            <a:off x="990600" y="4343400"/>
            <a:ext cx="4826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prstShdw prst="shdw1" dist="107763" dir="13500000">
              <a:scrgbClr r="0" g="0" b="0">
                <a:alpha val="50000"/>
              </a:sc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2D42A6C-1C33-CD66-4829-093C9495E980}"/>
              </a:ext>
            </a:extLst>
          </p:cNvPr>
          <p:cNvSpPr/>
          <p:nvPr/>
        </p:nvSpPr>
        <p:spPr>
          <a:xfrm>
            <a:off x="1117600" y="4470400"/>
            <a:ext cx="76200" cy="1168400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351D194F-D99D-0C6F-B865-617E507ADF10}"/>
              </a:ext>
            </a:extLst>
          </p:cNvPr>
          <p:cNvSpPr txBox="1"/>
          <p:nvPr/>
        </p:nvSpPr>
        <p:spPr>
          <a:xfrm>
            <a:off x="1295400" y="4495800"/>
            <a:ext cx="4394200" cy="38100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识别思路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53FA4A15-1A6D-8529-DC8B-BAEFCB9594DF}"/>
              </a:ext>
            </a:extLst>
          </p:cNvPr>
          <p:cNvSpPr txBox="1"/>
          <p:nvPr/>
        </p:nvSpPr>
        <p:spPr>
          <a:xfrm>
            <a:off x="1270000" y="4953000"/>
            <a:ext cx="4394200" cy="72584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先统计点数出现次数，再结合长度判断牌型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顺子、连对和飞机需要检查连续性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炸弹和王炸作为特殊高优先级牌型处理</a:t>
            </a: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9852CC56-F2B5-B364-7A7C-2DFD629C699B}"/>
              </a:ext>
            </a:extLst>
          </p:cNvPr>
          <p:cNvSpPr/>
          <p:nvPr/>
        </p:nvSpPr>
        <p:spPr>
          <a:xfrm>
            <a:off x="6375400" y="4343400"/>
            <a:ext cx="4826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prstShdw prst="shdw1" dist="107763" dir="13500000">
              <a:scrgbClr r="0" g="0" b="0">
                <a:alpha val="50000"/>
              </a:sc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D543A73-D247-A9D4-5BFE-FF6AAB594839}"/>
              </a:ext>
            </a:extLst>
          </p:cNvPr>
          <p:cNvSpPr/>
          <p:nvPr/>
        </p:nvSpPr>
        <p:spPr>
          <a:xfrm>
            <a:off x="6502400" y="4470400"/>
            <a:ext cx="76200" cy="1168400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CBCD33C-E30E-6491-0BC0-6F17DA32B90E}"/>
              </a:ext>
            </a:extLst>
          </p:cNvPr>
          <p:cNvSpPr txBox="1"/>
          <p:nvPr/>
        </p:nvSpPr>
        <p:spPr>
          <a:xfrm>
            <a:off x="6680200" y="4495800"/>
            <a:ext cx="4394200" cy="38100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比较策略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99B5B40-0B7E-C2D1-2A48-3E6E2C69B98D}"/>
              </a:ext>
            </a:extLst>
          </p:cNvPr>
          <p:cNvSpPr txBox="1"/>
          <p:nvPr/>
        </p:nvSpPr>
        <p:spPr>
          <a:xfrm>
            <a:off x="6654800" y="4953000"/>
            <a:ext cx="4394200" cy="72584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同牌型比较主点数大小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炸弹可压过普通牌型，王炸优先级最高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不合法组合直接拒绝，避免破坏回合状态</a:t>
            </a:r>
          </a:p>
        </p:txBody>
      </p:sp>
    </p:spTree>
    <p:extLst>
      <p:ext uri="{BB962C8B-B14F-4D97-AF65-F5344CB8AC3E}">
        <p14:creationId xmlns:p14="http://schemas.microsoft.com/office/powerpoint/2010/main" val="3221497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AFE76D7-DA2C-9C55-55F7-EEB30D9F233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69285F5-6A08-E96D-1E5A-840941E674DD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37BA20E-4F9F-3059-6457-640E81A918A0}"/>
              </a:ext>
            </a:extLst>
          </p:cNvPr>
          <p:cNvSpPr/>
          <p:nvPr/>
        </p:nvSpPr>
        <p:spPr>
          <a:xfrm>
            <a:off x="0" y="800100"/>
            <a:ext cx="12192000" cy="1270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9B7FE48-D39B-1223-9502-FA1D3AD0C9F1}"/>
              </a:ext>
            </a:extLst>
          </p:cNvPr>
          <p:cNvSpPr/>
          <p:nvPr/>
        </p:nvSpPr>
        <p:spPr>
          <a:xfrm>
            <a:off x="0" y="0"/>
            <a:ext cx="101600" cy="812800"/>
          </a:xfrm>
          <a:prstGeom prst="rect">
            <a:avLst/>
          </a:prstGeom>
          <a:solidFill>
            <a:srgbClr val="14B8A6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92C3F18-7AE4-87BF-C7DF-A63C1E8A537B}"/>
              </a:ext>
            </a:extLst>
          </p:cNvPr>
          <p:cNvSpPr txBox="1"/>
          <p:nvPr/>
        </p:nvSpPr>
        <p:spPr>
          <a:xfrm>
            <a:off x="355600" y="177800"/>
            <a:ext cx="8128000" cy="456535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2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斗地主难点与解决方法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13D1205-EADA-C4BA-3A39-49C0D9B63CAD}"/>
              </a:ext>
            </a:extLst>
          </p:cNvPr>
          <p:cNvSpPr txBox="1"/>
          <p:nvPr/>
        </p:nvSpPr>
        <p:spPr>
          <a:xfrm>
            <a:off x="9652000" y="228600"/>
            <a:ext cx="1905000" cy="279564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r"/>
            <a:r>
              <a:rPr lang="zh-CN" altLang="en-US" sz="11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问题处理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3E4652F-3200-586F-EAB9-84D0832A13A6}"/>
              </a:ext>
            </a:extLst>
          </p:cNvPr>
          <p:cNvSpPr txBox="1"/>
          <p:nvPr/>
        </p:nvSpPr>
        <p:spPr>
          <a:xfrm>
            <a:off x="355600" y="6413500"/>
            <a:ext cx="5334000" cy="24878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9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许宇杰｜软件</a:t>
            </a:r>
            <a:r>
              <a:rPr lang="en-US" altLang="zh-CN" sz="9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25-10</a:t>
            </a:r>
            <a:r>
              <a:rPr lang="zh-CN" altLang="en-US" sz="9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｜</a:t>
            </a:r>
            <a:r>
              <a:rPr lang="en-US" altLang="zh-CN" sz="9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LanBoard</a:t>
            </a:r>
            <a:endParaRPr lang="zh-CN" altLang="en-US" sz="950">
              <a:solidFill>
                <a:srgbClr val="6B72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4DB55CD-D508-E0E8-5630-775EDC2079B4}"/>
              </a:ext>
            </a:extLst>
          </p:cNvPr>
          <p:cNvSpPr txBox="1"/>
          <p:nvPr/>
        </p:nvSpPr>
        <p:spPr>
          <a:xfrm>
            <a:off x="11430000" y="6388100"/>
            <a:ext cx="431800" cy="25648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r"/>
            <a:r>
              <a:rPr lang="en-US" altLang="zh-CN" sz="100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06</a:t>
            </a:r>
            <a:endParaRPr lang="zh-CN" altLang="en-US" sz="1000">
              <a:solidFill>
                <a:srgbClr val="6B72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99439DA8-5381-BF1D-BCDB-6514438BA7FB}"/>
              </a:ext>
            </a:extLst>
          </p:cNvPr>
          <p:cNvSpPr/>
          <p:nvPr/>
        </p:nvSpPr>
        <p:spPr>
          <a:xfrm>
            <a:off x="889000" y="1346200"/>
            <a:ext cx="10414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726D37E-BC5E-3D52-72AC-1ADB8B5C0953}"/>
              </a:ext>
            </a:extLst>
          </p:cNvPr>
          <p:cNvSpPr txBox="1"/>
          <p:nvPr/>
        </p:nvSpPr>
        <p:spPr>
          <a:xfrm>
            <a:off x="1193800" y="1536700"/>
            <a:ext cx="2413000" cy="34881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16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三名玩家视角不同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E5E4A38-64B9-317A-6696-3E60D85397F1}"/>
              </a:ext>
            </a:extLst>
          </p:cNvPr>
          <p:cNvSpPr txBox="1"/>
          <p:nvPr/>
        </p:nvSpPr>
        <p:spPr>
          <a:xfrm>
            <a:off x="3886200" y="1498600"/>
            <a:ext cx="6985000" cy="31034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只同步必要公开信息；本地视角只显示自己的手牌，其他玩家手牌用背面或数量表示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96327F7-E47A-AA38-482B-14F65C9C476D}"/>
              </a:ext>
            </a:extLst>
          </p:cNvPr>
          <p:cNvSpPr/>
          <p:nvPr/>
        </p:nvSpPr>
        <p:spPr>
          <a:xfrm>
            <a:off x="889000" y="1346200"/>
            <a:ext cx="10160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8C0F648-8973-B03F-77C6-B2C0912617D7}"/>
              </a:ext>
            </a:extLst>
          </p:cNvPr>
          <p:cNvSpPr/>
          <p:nvPr/>
        </p:nvSpPr>
        <p:spPr>
          <a:xfrm>
            <a:off x="889000" y="2438400"/>
            <a:ext cx="10414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D474220-E12D-4D33-B36D-23334339EC2A}"/>
              </a:ext>
            </a:extLst>
          </p:cNvPr>
          <p:cNvSpPr txBox="1"/>
          <p:nvPr/>
        </p:nvSpPr>
        <p:spPr>
          <a:xfrm>
            <a:off x="1193800" y="2628900"/>
            <a:ext cx="2413000" cy="595035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16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回合、不要、上一手牌容易错乱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CF0A1B2-ECF6-A39A-0B97-D72A9E30AC02}"/>
              </a:ext>
            </a:extLst>
          </p:cNvPr>
          <p:cNvSpPr txBox="1"/>
          <p:nvPr/>
        </p:nvSpPr>
        <p:spPr>
          <a:xfrm>
            <a:off x="3886200" y="2590800"/>
            <a:ext cx="6985000" cy="31034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统一用控制器维护当前玩家、上一手牌和连续不要次数，所有操作都从同一个入口更新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AD730E0-B659-18D6-6053-C510F7404159}"/>
              </a:ext>
            </a:extLst>
          </p:cNvPr>
          <p:cNvSpPr/>
          <p:nvPr/>
        </p:nvSpPr>
        <p:spPr>
          <a:xfrm>
            <a:off x="889000" y="2438400"/>
            <a:ext cx="10160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64A0F39-3199-8C3E-0CA8-225649BFF3F2}"/>
              </a:ext>
            </a:extLst>
          </p:cNvPr>
          <p:cNvSpPr/>
          <p:nvPr/>
        </p:nvSpPr>
        <p:spPr>
          <a:xfrm>
            <a:off x="889000" y="3530600"/>
            <a:ext cx="10414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8A56C3B-A604-2AC3-9C43-985DFE9DBCC1}"/>
              </a:ext>
            </a:extLst>
          </p:cNvPr>
          <p:cNvSpPr txBox="1"/>
          <p:nvPr/>
        </p:nvSpPr>
        <p:spPr>
          <a:xfrm>
            <a:off x="1193800" y="3721100"/>
            <a:ext cx="2413000" cy="34881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16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牌型组合多，容易漏判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098A497-0CAD-3EB7-8D7C-3D2BDA7A1786}"/>
              </a:ext>
            </a:extLst>
          </p:cNvPr>
          <p:cNvSpPr txBox="1"/>
          <p:nvPr/>
        </p:nvSpPr>
        <p:spPr>
          <a:xfrm>
            <a:off x="3886200" y="3683000"/>
            <a:ext cx="6985000" cy="31034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按点数统计、长度、连续性分层判断，特殊牌型单独处理，降低互相干扰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5D6A667-2E0C-B1D2-CDA2-9C80FFAF415C}"/>
              </a:ext>
            </a:extLst>
          </p:cNvPr>
          <p:cNvSpPr/>
          <p:nvPr/>
        </p:nvSpPr>
        <p:spPr>
          <a:xfrm>
            <a:off x="889000" y="3530600"/>
            <a:ext cx="10160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C7061287-0D9F-4B11-23E0-733CCD5603E2}"/>
              </a:ext>
            </a:extLst>
          </p:cNvPr>
          <p:cNvSpPr/>
          <p:nvPr/>
        </p:nvSpPr>
        <p:spPr>
          <a:xfrm>
            <a:off x="889000" y="4622800"/>
            <a:ext cx="10414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98AD6A5-5E08-FE85-BA55-37392E558699}"/>
              </a:ext>
            </a:extLst>
          </p:cNvPr>
          <p:cNvSpPr txBox="1"/>
          <p:nvPr/>
        </p:nvSpPr>
        <p:spPr>
          <a:xfrm>
            <a:off x="1193800" y="4813300"/>
            <a:ext cx="2413000" cy="348813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16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演示需要流程闭环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1469F47-248E-B52D-6D39-BC68453AB979}"/>
              </a:ext>
            </a:extLst>
          </p:cNvPr>
          <p:cNvSpPr txBox="1"/>
          <p:nvPr/>
        </p:nvSpPr>
        <p:spPr>
          <a:xfrm>
            <a:off x="3886200" y="4775200"/>
            <a:ext cx="6985000" cy="31034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加入基础 </a:t>
            </a:r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AI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和胜负检测，即使人数不足人工操作，也能完成一局演示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62FD3FF-A504-87C6-D569-ACA2E97EDEAF}"/>
              </a:ext>
            </a:extLst>
          </p:cNvPr>
          <p:cNvSpPr/>
          <p:nvPr/>
        </p:nvSpPr>
        <p:spPr>
          <a:xfrm>
            <a:off x="889000" y="4622800"/>
            <a:ext cx="101600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5970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BCF07C5-501C-349B-D8FB-3E7EB7CB5AA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02BFF11-0DD1-52E8-E8A3-97D83F9721C0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E883547-5902-0019-CE3B-FC6DE1956B8A}"/>
              </a:ext>
            </a:extLst>
          </p:cNvPr>
          <p:cNvSpPr/>
          <p:nvPr/>
        </p:nvSpPr>
        <p:spPr>
          <a:xfrm>
            <a:off x="0" y="800100"/>
            <a:ext cx="12192000" cy="1270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CE9531-A7AE-8CEC-8B60-EC8A238C07BF}"/>
              </a:ext>
            </a:extLst>
          </p:cNvPr>
          <p:cNvSpPr/>
          <p:nvPr/>
        </p:nvSpPr>
        <p:spPr>
          <a:xfrm>
            <a:off x="0" y="0"/>
            <a:ext cx="101600" cy="812800"/>
          </a:xfrm>
          <a:prstGeom prst="rect">
            <a:avLst/>
          </a:prstGeom>
          <a:solidFill>
            <a:srgbClr val="14B8A6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1C9384A-995D-C0D3-87D2-949CCFC1D398}"/>
              </a:ext>
            </a:extLst>
          </p:cNvPr>
          <p:cNvSpPr txBox="1"/>
          <p:nvPr/>
        </p:nvSpPr>
        <p:spPr>
          <a:xfrm>
            <a:off x="355600" y="177800"/>
            <a:ext cx="8128000" cy="456535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2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弹幕试炼模块功能实现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C0D2D36-9522-3C04-F052-B6A63F32E426}"/>
              </a:ext>
            </a:extLst>
          </p:cNvPr>
          <p:cNvSpPr txBox="1"/>
          <p:nvPr/>
        </p:nvSpPr>
        <p:spPr>
          <a:xfrm>
            <a:off x="9652000" y="228600"/>
            <a:ext cx="1905000" cy="279564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r"/>
            <a:r>
              <a:rPr lang="zh-CN" altLang="en-US" sz="11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实时战斗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A0A66E8-157C-DF36-6D72-33FC3E5BADD0}"/>
              </a:ext>
            </a:extLst>
          </p:cNvPr>
          <p:cNvSpPr txBox="1"/>
          <p:nvPr/>
        </p:nvSpPr>
        <p:spPr>
          <a:xfrm>
            <a:off x="355600" y="6413500"/>
            <a:ext cx="5334000" cy="24878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9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许宇杰｜软件</a:t>
            </a:r>
            <a:r>
              <a:rPr lang="en-US" altLang="zh-CN" sz="9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25-10</a:t>
            </a:r>
            <a:r>
              <a:rPr lang="zh-CN" altLang="en-US" sz="9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｜</a:t>
            </a:r>
            <a:r>
              <a:rPr lang="en-US" altLang="zh-CN" sz="9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LanBoard</a:t>
            </a:r>
            <a:endParaRPr lang="zh-CN" altLang="en-US" sz="950">
              <a:solidFill>
                <a:srgbClr val="6B72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A48FEBF-1753-AFD8-2D1B-93B748324BA8}"/>
              </a:ext>
            </a:extLst>
          </p:cNvPr>
          <p:cNvSpPr txBox="1"/>
          <p:nvPr/>
        </p:nvSpPr>
        <p:spPr>
          <a:xfrm>
            <a:off x="11430000" y="6388100"/>
            <a:ext cx="431800" cy="25648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r"/>
            <a:r>
              <a:rPr lang="en-US" altLang="zh-CN" sz="100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07</a:t>
            </a:r>
            <a:endParaRPr lang="zh-CN" altLang="en-US" sz="1000">
              <a:solidFill>
                <a:srgbClr val="6B72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0F68E51-BE7A-44ED-5E16-5D1B493054F6}"/>
              </a:ext>
            </a:extLst>
          </p:cNvPr>
          <p:cNvSpPr/>
          <p:nvPr/>
        </p:nvSpPr>
        <p:spPr>
          <a:xfrm>
            <a:off x="698500" y="1371600"/>
            <a:ext cx="3302000" cy="370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prstShdw prst="shdw1" dist="107763" dir="13500000">
              <a:scrgbClr r="0" g="0" b="0">
                <a:alpha val="50000"/>
              </a:sc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6230BC3-19BC-C164-2AA7-99CFB2820885}"/>
              </a:ext>
            </a:extLst>
          </p:cNvPr>
          <p:cNvSpPr/>
          <p:nvPr/>
        </p:nvSpPr>
        <p:spPr>
          <a:xfrm>
            <a:off x="825500" y="1498600"/>
            <a:ext cx="76200" cy="345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9880637-60DF-F100-1CE3-13F942F679AC}"/>
              </a:ext>
            </a:extLst>
          </p:cNvPr>
          <p:cNvSpPr txBox="1"/>
          <p:nvPr/>
        </p:nvSpPr>
        <p:spPr>
          <a:xfrm>
            <a:off x="1003300" y="1524000"/>
            <a:ext cx="2870200" cy="38100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状态管理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40496D6-8C4C-C5D8-13CB-8A0F7BE599CB}"/>
              </a:ext>
            </a:extLst>
          </p:cNvPr>
          <p:cNvSpPr txBox="1"/>
          <p:nvPr/>
        </p:nvSpPr>
        <p:spPr>
          <a:xfrm>
            <a:off x="977900" y="1981200"/>
            <a:ext cx="2870200" cy="1141338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菜单、游戏中、暂停、结算四类状态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状态切换时清理或保留对应运行数据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结算页展示生存结果和关键数值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C48B7A2-8CC2-B181-BCCD-45DB651813AF}"/>
              </a:ext>
            </a:extLst>
          </p:cNvPr>
          <p:cNvSpPr/>
          <p:nvPr/>
        </p:nvSpPr>
        <p:spPr>
          <a:xfrm>
            <a:off x="4445000" y="1371600"/>
            <a:ext cx="3302000" cy="370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prstShdw prst="shdw1" dist="107763" dir="13500000">
              <a:scrgbClr r="0" g="0" b="0">
                <a:alpha val="50000"/>
              </a:sc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BE9E9CD-5261-9AEF-8676-CE993C503CD0}"/>
              </a:ext>
            </a:extLst>
          </p:cNvPr>
          <p:cNvSpPr/>
          <p:nvPr/>
        </p:nvSpPr>
        <p:spPr>
          <a:xfrm>
            <a:off x="4572000" y="1498600"/>
            <a:ext cx="76200" cy="3454400"/>
          </a:xfrm>
          <a:prstGeom prst="rect">
            <a:avLst/>
          </a:prstGeom>
          <a:solidFill>
            <a:srgbClr val="14B8A6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05CB86B-8107-D52D-668E-06FC6D0EA0E7}"/>
              </a:ext>
            </a:extLst>
          </p:cNvPr>
          <p:cNvSpPr txBox="1"/>
          <p:nvPr/>
        </p:nvSpPr>
        <p:spPr>
          <a:xfrm>
            <a:off x="4749800" y="1524000"/>
            <a:ext cx="2870200" cy="38100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战斗循环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EA35A51-B0DA-50E6-AEE5-21ED5EBA6136}"/>
              </a:ext>
            </a:extLst>
          </p:cNvPr>
          <p:cNvSpPr txBox="1"/>
          <p:nvPr/>
        </p:nvSpPr>
        <p:spPr>
          <a:xfrm>
            <a:off x="4724400" y="1981200"/>
            <a:ext cx="2870200" cy="93358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角色移动和边界限制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敌人生成、追踪与碰撞伤害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自动锁定目标并按冷却发射子弹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敌方弹幕和玩家受击反馈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32AF603-2FCE-10E5-255D-EC0F7D762D3A}"/>
              </a:ext>
            </a:extLst>
          </p:cNvPr>
          <p:cNvSpPr/>
          <p:nvPr/>
        </p:nvSpPr>
        <p:spPr>
          <a:xfrm>
            <a:off x="8191500" y="1371600"/>
            <a:ext cx="3302000" cy="370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prstShdw prst="shdw1" dist="107763" dir="13500000">
              <a:scrgbClr r="0" g="0" b="0">
                <a:alpha val="50000"/>
              </a:sc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C0ECA59-5A15-774C-32C3-382498FFD2A2}"/>
              </a:ext>
            </a:extLst>
          </p:cNvPr>
          <p:cNvSpPr/>
          <p:nvPr/>
        </p:nvSpPr>
        <p:spPr>
          <a:xfrm>
            <a:off x="8318500" y="1498600"/>
            <a:ext cx="76200" cy="345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981B64C-D5DF-5656-BFE3-C925BA3AFA58}"/>
              </a:ext>
            </a:extLst>
          </p:cNvPr>
          <p:cNvSpPr txBox="1"/>
          <p:nvPr/>
        </p:nvSpPr>
        <p:spPr>
          <a:xfrm>
            <a:off x="8496300" y="1524000"/>
            <a:ext cx="2870200" cy="38100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成长反馈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4A02EA4-AB7E-445A-0639-C0338924219A}"/>
              </a:ext>
            </a:extLst>
          </p:cNvPr>
          <p:cNvSpPr txBox="1"/>
          <p:nvPr/>
        </p:nvSpPr>
        <p:spPr>
          <a:xfrm>
            <a:off x="8470900" y="1981200"/>
            <a:ext cx="2870200" cy="1141338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经验拾取、升级选择、回血道具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子弹类型、等级和品质共同影响强度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支持刷新、升级、融合和特殊弹幕效果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E665B7DC-6244-A423-DEF3-6E9824CCF77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200" y="4826000"/>
            <a:ext cx="1066800" cy="1066800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917E69BB-5492-F76D-B6E5-6BB17D27FB41}"/>
              </a:ext>
            </a:extLst>
          </p:cNvPr>
          <p:cNvSpPr txBox="1"/>
          <p:nvPr/>
        </p:nvSpPr>
        <p:spPr>
          <a:xfrm>
            <a:off x="1206500" y="5461000"/>
            <a:ext cx="8763000" cy="333425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150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重点：把“能动起来”的原型推进到可升级、可结算、可长期运行的完整战斗流程。</a:t>
            </a:r>
          </a:p>
        </p:txBody>
      </p:sp>
    </p:spTree>
    <p:extLst>
      <p:ext uri="{BB962C8B-B14F-4D97-AF65-F5344CB8AC3E}">
        <p14:creationId xmlns:p14="http://schemas.microsoft.com/office/powerpoint/2010/main" val="4272834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9C24095-A2CF-FF28-B668-E33BF80D44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F6E5B65-E54C-C8A2-172E-D29F30E942F8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2EB1102-BA49-3521-28C7-36669F54BE8E}"/>
              </a:ext>
            </a:extLst>
          </p:cNvPr>
          <p:cNvSpPr/>
          <p:nvPr/>
        </p:nvSpPr>
        <p:spPr>
          <a:xfrm>
            <a:off x="0" y="800100"/>
            <a:ext cx="12192000" cy="1270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AA5CFE-A9FD-5B8C-4392-4B0C24513D59}"/>
              </a:ext>
            </a:extLst>
          </p:cNvPr>
          <p:cNvSpPr/>
          <p:nvPr/>
        </p:nvSpPr>
        <p:spPr>
          <a:xfrm>
            <a:off x="0" y="0"/>
            <a:ext cx="101600" cy="812800"/>
          </a:xfrm>
          <a:prstGeom prst="rect">
            <a:avLst/>
          </a:prstGeom>
          <a:solidFill>
            <a:srgbClr val="14B8A6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A3B71D9-E3B4-678B-254B-92168A439320}"/>
              </a:ext>
            </a:extLst>
          </p:cNvPr>
          <p:cNvSpPr txBox="1"/>
          <p:nvPr/>
        </p:nvSpPr>
        <p:spPr>
          <a:xfrm>
            <a:off x="355600" y="177800"/>
            <a:ext cx="8128000" cy="456535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2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武器成长与合成系统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D7F68E2-911E-A143-C98B-360A38243F47}"/>
              </a:ext>
            </a:extLst>
          </p:cNvPr>
          <p:cNvSpPr txBox="1"/>
          <p:nvPr/>
        </p:nvSpPr>
        <p:spPr>
          <a:xfrm>
            <a:off x="9652000" y="228600"/>
            <a:ext cx="1905000" cy="279564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r"/>
            <a:r>
              <a:rPr lang="zh-CN" altLang="en-US" sz="11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弹幕设计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0FF2F75-645B-F814-C769-A0ACA6015FA6}"/>
              </a:ext>
            </a:extLst>
          </p:cNvPr>
          <p:cNvSpPr txBox="1"/>
          <p:nvPr/>
        </p:nvSpPr>
        <p:spPr>
          <a:xfrm>
            <a:off x="355600" y="6413500"/>
            <a:ext cx="5334000" cy="24878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9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许宇杰｜软件</a:t>
            </a:r>
            <a:r>
              <a:rPr lang="en-US" altLang="zh-CN" sz="9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25-10</a:t>
            </a:r>
            <a:r>
              <a:rPr lang="zh-CN" altLang="en-US" sz="9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｜</a:t>
            </a:r>
            <a:r>
              <a:rPr lang="en-US" altLang="zh-CN" sz="9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LanBoard</a:t>
            </a:r>
            <a:endParaRPr lang="zh-CN" altLang="en-US" sz="950">
              <a:solidFill>
                <a:srgbClr val="6B72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1C68EA2-61EB-07D3-CFA3-458865F04AD8}"/>
              </a:ext>
            </a:extLst>
          </p:cNvPr>
          <p:cNvSpPr txBox="1"/>
          <p:nvPr/>
        </p:nvSpPr>
        <p:spPr>
          <a:xfrm>
            <a:off x="11430000" y="6388100"/>
            <a:ext cx="431800" cy="25648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r"/>
            <a:r>
              <a:rPr lang="en-US" altLang="zh-CN" sz="100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08</a:t>
            </a:r>
            <a:endParaRPr lang="zh-CN" altLang="en-US" sz="1000">
              <a:solidFill>
                <a:srgbClr val="6B72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AE24C68-ED84-B7C9-34DC-15CE52D733E5}"/>
              </a:ext>
            </a:extLst>
          </p:cNvPr>
          <p:cNvSpPr/>
          <p:nvPr/>
        </p:nvSpPr>
        <p:spPr>
          <a:xfrm>
            <a:off x="762000" y="1498600"/>
            <a:ext cx="18415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2F4718C-4A1C-46B8-E6B1-6A50C5BD1915}"/>
              </a:ext>
            </a:extLst>
          </p:cNvPr>
          <p:cNvSpPr txBox="1"/>
          <p:nvPr/>
        </p:nvSpPr>
        <p:spPr>
          <a:xfrm>
            <a:off x="838200" y="1625600"/>
            <a:ext cx="1689100" cy="502702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zh-CN" altLang="en-US" sz="1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击败敌人</a:t>
            </a:r>
          </a:p>
          <a:p>
            <a:pPr algn="ctr"/>
            <a:r>
              <a:rPr lang="zh-CN" altLang="en-US" sz="1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获得经验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F964667B-C905-A6E3-BC06-EA1E77E6F837}"/>
              </a:ext>
            </a:extLst>
          </p:cNvPr>
          <p:cNvCxnSpPr/>
          <p:nvPr/>
        </p:nvCxnSpPr>
        <p:spPr>
          <a:xfrm>
            <a:off x="2603500" y="1841500"/>
            <a:ext cx="393700" cy="0"/>
          </a:xfrm>
          <a:prstGeom prst="line">
            <a:avLst/>
          </a:prstGeom>
          <a:ln w="25400">
            <a:solidFill>
              <a:srgbClr val="6B72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94EC36E-4FDE-0606-C6F1-688335B145B9}"/>
              </a:ext>
            </a:extLst>
          </p:cNvPr>
          <p:cNvSpPr/>
          <p:nvPr/>
        </p:nvSpPr>
        <p:spPr>
          <a:xfrm>
            <a:off x="3098800" y="1498600"/>
            <a:ext cx="18415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36766EB-3616-122A-91AA-1433CE70D58F}"/>
              </a:ext>
            </a:extLst>
          </p:cNvPr>
          <p:cNvSpPr txBox="1"/>
          <p:nvPr/>
        </p:nvSpPr>
        <p:spPr>
          <a:xfrm>
            <a:off x="3175000" y="1625600"/>
            <a:ext cx="1689100" cy="502702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zh-CN" altLang="en-US" sz="1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升级弹窗</a:t>
            </a:r>
          </a:p>
          <a:p>
            <a:pPr algn="ctr"/>
            <a:r>
              <a:rPr lang="zh-CN" altLang="en-US" sz="1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选择强化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D5C2B41C-701D-CAB3-D762-73D81DC376A0}"/>
              </a:ext>
            </a:extLst>
          </p:cNvPr>
          <p:cNvCxnSpPr/>
          <p:nvPr/>
        </p:nvCxnSpPr>
        <p:spPr>
          <a:xfrm>
            <a:off x="4940300" y="1841500"/>
            <a:ext cx="393700" cy="0"/>
          </a:xfrm>
          <a:prstGeom prst="line">
            <a:avLst/>
          </a:prstGeom>
          <a:ln w="25400">
            <a:solidFill>
              <a:srgbClr val="6B72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2A52B34-4FD7-DF4C-1599-0756F476D4B0}"/>
              </a:ext>
            </a:extLst>
          </p:cNvPr>
          <p:cNvSpPr/>
          <p:nvPr/>
        </p:nvSpPr>
        <p:spPr>
          <a:xfrm>
            <a:off x="5435600" y="1498600"/>
            <a:ext cx="18415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6DB4A8F-C3DC-C02B-D37D-67623A637C15}"/>
              </a:ext>
            </a:extLst>
          </p:cNvPr>
          <p:cNvSpPr txBox="1"/>
          <p:nvPr/>
        </p:nvSpPr>
        <p:spPr>
          <a:xfrm>
            <a:off x="5511800" y="1625600"/>
            <a:ext cx="1689100" cy="502702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zh-CN" altLang="en-US" sz="1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刷新 </a:t>
            </a:r>
            <a:r>
              <a:rPr lang="en-US" altLang="zh-CN" sz="1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升级</a:t>
            </a:r>
          </a:p>
          <a:p>
            <a:pPr algn="ctr"/>
            <a:r>
              <a:rPr lang="zh-CN" altLang="en-US" sz="1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调整构筑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61D47130-26A1-189B-3904-285DA4D066D8}"/>
              </a:ext>
            </a:extLst>
          </p:cNvPr>
          <p:cNvCxnSpPr/>
          <p:nvPr/>
        </p:nvCxnSpPr>
        <p:spPr>
          <a:xfrm>
            <a:off x="7277100" y="1841500"/>
            <a:ext cx="393700" cy="0"/>
          </a:xfrm>
          <a:prstGeom prst="line">
            <a:avLst/>
          </a:prstGeom>
          <a:ln w="25400">
            <a:solidFill>
              <a:srgbClr val="6B72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F982466-409F-C030-8B85-08D7CB94EDF0}"/>
              </a:ext>
            </a:extLst>
          </p:cNvPr>
          <p:cNvSpPr/>
          <p:nvPr/>
        </p:nvSpPr>
        <p:spPr>
          <a:xfrm>
            <a:off x="7772400" y="1498600"/>
            <a:ext cx="18415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581F588-8612-3D6B-E7EE-39CBEB98D6DA}"/>
              </a:ext>
            </a:extLst>
          </p:cNvPr>
          <p:cNvSpPr txBox="1"/>
          <p:nvPr/>
        </p:nvSpPr>
        <p:spPr>
          <a:xfrm>
            <a:off x="7848600" y="1625600"/>
            <a:ext cx="1689100" cy="502702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zh-CN" altLang="en-US" sz="1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融合触发</a:t>
            </a:r>
          </a:p>
          <a:p>
            <a:pPr algn="ctr"/>
            <a:r>
              <a:rPr lang="zh-CN" altLang="en-US" sz="1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特殊弹幕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10D1D863-C12C-6EE8-1B86-08F8CD632B57}"/>
              </a:ext>
            </a:extLst>
          </p:cNvPr>
          <p:cNvCxnSpPr/>
          <p:nvPr/>
        </p:nvCxnSpPr>
        <p:spPr>
          <a:xfrm>
            <a:off x="9613900" y="1841500"/>
            <a:ext cx="393700" cy="0"/>
          </a:xfrm>
          <a:prstGeom prst="line">
            <a:avLst/>
          </a:prstGeom>
          <a:ln w="25400">
            <a:solidFill>
              <a:srgbClr val="6B72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CCD97870-EDFA-18E7-3766-D23AC3DF9E31}"/>
              </a:ext>
            </a:extLst>
          </p:cNvPr>
          <p:cNvSpPr/>
          <p:nvPr/>
        </p:nvSpPr>
        <p:spPr>
          <a:xfrm>
            <a:off x="10109200" y="1498600"/>
            <a:ext cx="1524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2FE5815-BA87-3581-F06A-24590653C0BF}"/>
              </a:ext>
            </a:extLst>
          </p:cNvPr>
          <p:cNvSpPr txBox="1"/>
          <p:nvPr/>
        </p:nvSpPr>
        <p:spPr>
          <a:xfrm>
            <a:off x="10185400" y="1625600"/>
            <a:ext cx="1371600" cy="502702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zh-CN" altLang="en-US" sz="1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回到战斗</a:t>
            </a:r>
          </a:p>
          <a:p>
            <a:pPr algn="ctr"/>
            <a:r>
              <a:rPr lang="zh-CN" altLang="en-US" sz="1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形成反馈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EC5C964-21C5-D2A9-5A6A-91109682DC35}"/>
              </a:ext>
            </a:extLst>
          </p:cNvPr>
          <p:cNvSpPr/>
          <p:nvPr/>
        </p:nvSpPr>
        <p:spPr>
          <a:xfrm>
            <a:off x="914400" y="3022600"/>
            <a:ext cx="4445000" cy="215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prstShdw prst="shdw1" dist="107763" dir="13500000">
              <a:scrgbClr r="0" g="0" b="0">
                <a:alpha val="50000"/>
              </a:sc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0C12466-3038-FDF5-DC9C-116CEA0639B1}"/>
              </a:ext>
            </a:extLst>
          </p:cNvPr>
          <p:cNvSpPr/>
          <p:nvPr/>
        </p:nvSpPr>
        <p:spPr>
          <a:xfrm>
            <a:off x="1041400" y="3149600"/>
            <a:ext cx="76200" cy="1905000"/>
          </a:xfrm>
          <a:prstGeom prst="rect">
            <a:avLst/>
          </a:prstGeom>
          <a:solidFill>
            <a:srgbClr val="14B8A6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D240940-0575-E188-D717-8BA6E84224D4}"/>
              </a:ext>
            </a:extLst>
          </p:cNvPr>
          <p:cNvSpPr txBox="1"/>
          <p:nvPr/>
        </p:nvSpPr>
        <p:spPr>
          <a:xfrm>
            <a:off x="1219200" y="3175000"/>
            <a:ext cx="4013200" cy="38100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成长参数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23EFEE3-0409-C6CE-C839-7BAFD1B6D7EE}"/>
              </a:ext>
            </a:extLst>
          </p:cNvPr>
          <p:cNvSpPr txBox="1"/>
          <p:nvPr/>
        </p:nvSpPr>
        <p:spPr>
          <a:xfrm>
            <a:off x="1193800" y="3632200"/>
            <a:ext cx="4013200" cy="93358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子弹类型决定攻击方式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等级影响伤害、频率和数量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品质用于区分普通强化和高价值强化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刷新机制提高升级选择的可控性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C66DA34B-83DA-4A6F-0F49-69E21D14522A}"/>
              </a:ext>
            </a:extLst>
          </p:cNvPr>
          <p:cNvSpPr/>
          <p:nvPr/>
        </p:nvSpPr>
        <p:spPr>
          <a:xfrm>
            <a:off x="6248400" y="3022600"/>
            <a:ext cx="4445000" cy="215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prstShdw prst="shdw1" dist="107763" dir="13500000">
              <a:scrgbClr r="0" g="0" b="0">
                <a:alpha val="50000"/>
              </a:sc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744DE2B-2FFF-D907-7AD8-20253EFB6AF1}"/>
              </a:ext>
            </a:extLst>
          </p:cNvPr>
          <p:cNvSpPr/>
          <p:nvPr/>
        </p:nvSpPr>
        <p:spPr>
          <a:xfrm>
            <a:off x="6375400" y="3149600"/>
            <a:ext cx="76200" cy="1905000"/>
          </a:xfrm>
          <a:prstGeom prst="rect">
            <a:avLst/>
          </a:prstGeom>
          <a:solidFill>
            <a:srgbClr val="2563EB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A5BC5FF-C74D-A0C6-8970-C556B01C1419}"/>
              </a:ext>
            </a:extLst>
          </p:cNvPr>
          <p:cNvSpPr txBox="1"/>
          <p:nvPr/>
        </p:nvSpPr>
        <p:spPr>
          <a:xfrm>
            <a:off x="6553200" y="3175000"/>
            <a:ext cx="4013200" cy="38100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特殊子弹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D3CA2CC-FD7B-E573-152A-0079681B3516}"/>
              </a:ext>
            </a:extLst>
          </p:cNvPr>
          <p:cNvSpPr txBox="1"/>
          <p:nvPr/>
        </p:nvSpPr>
        <p:spPr>
          <a:xfrm>
            <a:off x="6527800" y="3632200"/>
            <a:ext cx="4013200" cy="72584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三芒弹：多方向覆盖，适合清理近身敌人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裂霜弹：强化控制和穿透体验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范围冻结：限制敌人移动，为玩家创造缓冲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E6C01AE8-660C-3A1D-6C9F-EC530AB11DC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400" y="5207000"/>
            <a:ext cx="736600" cy="736600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1F09B7ED-B530-7416-6B6C-AD665C7C3A8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5105400"/>
            <a:ext cx="939800" cy="939800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584FC5DF-804A-EB9C-F7B5-978B93323FEB}"/>
              </a:ext>
            </a:extLst>
          </p:cNvPr>
          <p:cNvSpPr txBox="1"/>
          <p:nvPr/>
        </p:nvSpPr>
        <p:spPr>
          <a:xfrm>
            <a:off x="3911600" y="5410200"/>
            <a:ext cx="6350000" cy="31803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140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设计目标：让升级不是单次数值变大，而是影响战斗节奏和操作空间。</a:t>
            </a:r>
          </a:p>
        </p:txBody>
      </p:sp>
    </p:spTree>
    <p:extLst>
      <p:ext uri="{BB962C8B-B14F-4D97-AF65-F5344CB8AC3E}">
        <p14:creationId xmlns:p14="http://schemas.microsoft.com/office/powerpoint/2010/main" val="3267109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C627B8E-E1C5-9FA3-E9AB-35301879FF1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082F2EC-1C90-363D-6E5A-00D2371F061B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FE5408A-28F5-E6D5-8D69-E2069B2404B6}"/>
              </a:ext>
            </a:extLst>
          </p:cNvPr>
          <p:cNvSpPr/>
          <p:nvPr/>
        </p:nvSpPr>
        <p:spPr>
          <a:xfrm>
            <a:off x="0" y="800100"/>
            <a:ext cx="12192000" cy="1270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3A0622E-9C4E-89B0-4F9E-5783FA3067C1}"/>
              </a:ext>
            </a:extLst>
          </p:cNvPr>
          <p:cNvSpPr/>
          <p:nvPr/>
        </p:nvSpPr>
        <p:spPr>
          <a:xfrm>
            <a:off x="0" y="0"/>
            <a:ext cx="101600" cy="812800"/>
          </a:xfrm>
          <a:prstGeom prst="rect">
            <a:avLst/>
          </a:prstGeom>
          <a:solidFill>
            <a:srgbClr val="14B8A6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B1A1ED0-CC98-59F3-778B-06D80B1F23AC}"/>
              </a:ext>
            </a:extLst>
          </p:cNvPr>
          <p:cNvSpPr txBox="1"/>
          <p:nvPr/>
        </p:nvSpPr>
        <p:spPr>
          <a:xfrm>
            <a:off x="355600" y="177800"/>
            <a:ext cx="8128000" cy="456535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2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弹幕试炼难点与优化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D303DF4-575D-E7C2-EF96-6968AE0C7FDE}"/>
              </a:ext>
            </a:extLst>
          </p:cNvPr>
          <p:cNvSpPr txBox="1"/>
          <p:nvPr/>
        </p:nvSpPr>
        <p:spPr>
          <a:xfrm>
            <a:off x="9652000" y="228600"/>
            <a:ext cx="1905000" cy="279564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r"/>
            <a:r>
              <a:rPr lang="zh-CN" altLang="en-US" sz="11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调试优化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319EF1B-B434-617C-D443-64D61050004C}"/>
              </a:ext>
            </a:extLst>
          </p:cNvPr>
          <p:cNvSpPr txBox="1"/>
          <p:nvPr/>
        </p:nvSpPr>
        <p:spPr>
          <a:xfrm>
            <a:off x="355600" y="6413500"/>
            <a:ext cx="5334000" cy="24878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9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许宇杰｜软件</a:t>
            </a:r>
            <a:r>
              <a:rPr lang="en-US" altLang="zh-CN" sz="9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25-10</a:t>
            </a:r>
            <a:r>
              <a:rPr lang="zh-CN" altLang="en-US" sz="9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｜</a:t>
            </a:r>
            <a:r>
              <a:rPr lang="en-US" altLang="zh-CN" sz="9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LanBoard</a:t>
            </a:r>
            <a:endParaRPr lang="zh-CN" altLang="en-US" sz="950">
              <a:solidFill>
                <a:srgbClr val="6B72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76F1F51-2BC8-9037-D8D3-C8F79AE53140}"/>
              </a:ext>
            </a:extLst>
          </p:cNvPr>
          <p:cNvSpPr txBox="1"/>
          <p:nvPr/>
        </p:nvSpPr>
        <p:spPr>
          <a:xfrm>
            <a:off x="11430000" y="6388100"/>
            <a:ext cx="431800" cy="25648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r"/>
            <a:r>
              <a:rPr lang="en-US" altLang="zh-CN" sz="100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09</a:t>
            </a:r>
            <a:endParaRPr lang="zh-CN" altLang="en-US" sz="1000">
              <a:solidFill>
                <a:srgbClr val="6B72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A26706B-8621-9DC1-63F8-3941724044E9}"/>
              </a:ext>
            </a:extLst>
          </p:cNvPr>
          <p:cNvSpPr/>
          <p:nvPr/>
        </p:nvSpPr>
        <p:spPr>
          <a:xfrm>
            <a:off x="698500" y="1346200"/>
            <a:ext cx="3175000" cy="167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prstShdw prst="shdw1" dist="107763" dir="13500000">
              <a:scrgbClr r="0" g="0" b="0">
                <a:alpha val="50000"/>
              </a:sc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8EF95BC-7C3A-7A0F-9712-2EE9145FAB54}"/>
              </a:ext>
            </a:extLst>
          </p:cNvPr>
          <p:cNvSpPr/>
          <p:nvPr/>
        </p:nvSpPr>
        <p:spPr>
          <a:xfrm>
            <a:off x="825500" y="1473200"/>
            <a:ext cx="76200" cy="1422400"/>
          </a:xfrm>
          <a:prstGeom prst="rect">
            <a:avLst/>
          </a:prstGeom>
          <a:solidFill>
            <a:srgbClr val="7C3AED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87DADA0-6324-6223-77C1-E2E06A041533}"/>
              </a:ext>
            </a:extLst>
          </p:cNvPr>
          <p:cNvSpPr txBox="1"/>
          <p:nvPr/>
        </p:nvSpPr>
        <p:spPr>
          <a:xfrm>
            <a:off x="1003300" y="1498600"/>
            <a:ext cx="2743200" cy="38100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实时运行压力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4828C90-330C-EA37-C8B7-B1D85CBBBF11}"/>
              </a:ext>
            </a:extLst>
          </p:cNvPr>
          <p:cNvSpPr txBox="1"/>
          <p:nvPr/>
        </p:nvSpPr>
        <p:spPr>
          <a:xfrm>
            <a:off x="977900" y="1955800"/>
            <a:ext cx="2743200" cy="93358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持续 </a:t>
            </a:r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tick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更新玩家、敌人、子弹和拾取物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控制对象数量和清理时机，避免长时间运行堆积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64B6B856-6A47-03CF-F470-36EBF8B02E48}"/>
              </a:ext>
            </a:extLst>
          </p:cNvPr>
          <p:cNvSpPr/>
          <p:nvPr/>
        </p:nvSpPr>
        <p:spPr>
          <a:xfrm>
            <a:off x="4508500" y="1346200"/>
            <a:ext cx="3175000" cy="167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prstShdw prst="shdw1" dist="107763" dir="13500000">
              <a:scrgbClr r="0" g="0" b="0">
                <a:alpha val="50000"/>
              </a:sc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15D1DD6-3EE2-57FA-5A1B-C27506359FAA}"/>
              </a:ext>
            </a:extLst>
          </p:cNvPr>
          <p:cNvSpPr/>
          <p:nvPr/>
        </p:nvSpPr>
        <p:spPr>
          <a:xfrm>
            <a:off x="4635500" y="1473200"/>
            <a:ext cx="76200" cy="1422400"/>
          </a:xfrm>
          <a:prstGeom prst="rect">
            <a:avLst/>
          </a:prstGeom>
          <a:solidFill>
            <a:srgbClr val="EF4444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6A0380B-60CF-BD13-73C9-338944D198D7}"/>
              </a:ext>
            </a:extLst>
          </p:cNvPr>
          <p:cNvSpPr txBox="1"/>
          <p:nvPr/>
        </p:nvSpPr>
        <p:spPr>
          <a:xfrm>
            <a:off x="4813300" y="1498600"/>
            <a:ext cx="2743200" cy="38100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碰撞与伤害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D11F9B1-1F8A-2AE4-FAF8-D21C63EB55CE}"/>
              </a:ext>
            </a:extLst>
          </p:cNvPr>
          <p:cNvSpPr txBox="1"/>
          <p:nvPr/>
        </p:nvSpPr>
        <p:spPr>
          <a:xfrm>
            <a:off x="4787900" y="1955800"/>
            <a:ext cx="2743200" cy="93358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玩家、敌人、敌方弹幕和区域效果都参与判定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统一伤害入口，减少重复扣血和漏判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AE860EF5-A1BC-EBD6-C6A7-21E9C4EB1C9E}"/>
              </a:ext>
            </a:extLst>
          </p:cNvPr>
          <p:cNvSpPr/>
          <p:nvPr/>
        </p:nvSpPr>
        <p:spPr>
          <a:xfrm>
            <a:off x="8318500" y="1346200"/>
            <a:ext cx="3175000" cy="167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prstShdw prst="shdw1" dist="107763" dir="13500000">
              <a:scrgbClr r="0" g="0" b="0">
                <a:alpha val="50000"/>
              </a:sc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9D4A306-EB08-A0D7-8F1C-54164E72E5DA}"/>
              </a:ext>
            </a:extLst>
          </p:cNvPr>
          <p:cNvSpPr/>
          <p:nvPr/>
        </p:nvSpPr>
        <p:spPr>
          <a:xfrm>
            <a:off x="8445500" y="1473200"/>
            <a:ext cx="76200" cy="1422400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71BE11A-2C82-E9F4-D7CD-A232E0B78A52}"/>
              </a:ext>
            </a:extLst>
          </p:cNvPr>
          <p:cNvSpPr txBox="1"/>
          <p:nvPr/>
        </p:nvSpPr>
        <p:spPr>
          <a:xfrm>
            <a:off x="8623300" y="1498600"/>
            <a:ext cx="2743200" cy="38100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数值平衡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60661AD-012A-6036-F6F9-E8CA92957571}"/>
              </a:ext>
            </a:extLst>
          </p:cNvPr>
          <p:cNvSpPr txBox="1"/>
          <p:nvPr/>
        </p:nvSpPr>
        <p:spPr>
          <a:xfrm>
            <a:off x="8597900" y="1955800"/>
            <a:ext cx="2743200" cy="93358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通过冷却、伤害、速度和刷怪节奏调节难度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长期试玩后调整后期压力和成长速度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3B38217-FB2E-B4CE-C07B-9A20CE4BA7A5}"/>
              </a:ext>
            </a:extLst>
          </p:cNvPr>
          <p:cNvSpPr/>
          <p:nvPr/>
        </p:nvSpPr>
        <p:spPr>
          <a:xfrm>
            <a:off x="1460500" y="3632200"/>
            <a:ext cx="3937000" cy="167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prstShdw prst="shdw1" dist="107763" dir="13500000">
              <a:scrgbClr r="0" g="0" b="0">
                <a:alpha val="50000"/>
              </a:sc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B290B9A-9CE2-26C4-FBEC-C6E70EC0C2CD}"/>
              </a:ext>
            </a:extLst>
          </p:cNvPr>
          <p:cNvSpPr/>
          <p:nvPr/>
        </p:nvSpPr>
        <p:spPr>
          <a:xfrm>
            <a:off x="1587500" y="3759200"/>
            <a:ext cx="76200" cy="1422400"/>
          </a:xfrm>
          <a:prstGeom prst="rect">
            <a:avLst/>
          </a:prstGeom>
          <a:solidFill>
            <a:srgbClr val="14B8A6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4C8FF95-D9B4-2991-BC2F-47D0221EF08B}"/>
              </a:ext>
            </a:extLst>
          </p:cNvPr>
          <p:cNvSpPr txBox="1"/>
          <p:nvPr/>
        </p:nvSpPr>
        <p:spPr>
          <a:xfrm>
            <a:off x="1765300" y="3784600"/>
            <a:ext cx="3505200" cy="38100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移动端适配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ADB8E9F-6AEB-845E-BD2D-6A93AFF5B1DD}"/>
              </a:ext>
            </a:extLst>
          </p:cNvPr>
          <p:cNvSpPr txBox="1"/>
          <p:nvPr/>
        </p:nvSpPr>
        <p:spPr>
          <a:xfrm>
            <a:off x="1739900" y="4241800"/>
            <a:ext cx="3505200" cy="72584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Android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横屏布局检查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降低后期渲染压力，保证演示稳定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按钮和 </a:t>
            </a:r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HUD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避免遮挡战斗区域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A1A5681-8698-09B6-60D5-F971A19350A9}"/>
              </a:ext>
            </a:extLst>
          </p:cNvPr>
          <p:cNvSpPr/>
          <p:nvPr/>
        </p:nvSpPr>
        <p:spPr>
          <a:xfrm>
            <a:off x="6794500" y="3632200"/>
            <a:ext cx="3937000" cy="167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prstShdw prst="shdw1" dist="107763" dir="13500000">
              <a:scrgbClr r="0" g="0" b="0">
                <a:alpha val="50000"/>
              </a:sc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953A7F2-F85B-DF1D-8958-CDDA2BE104EE}"/>
              </a:ext>
            </a:extLst>
          </p:cNvPr>
          <p:cNvSpPr/>
          <p:nvPr/>
        </p:nvSpPr>
        <p:spPr>
          <a:xfrm>
            <a:off x="6921500" y="3759200"/>
            <a:ext cx="76200" cy="1422400"/>
          </a:xfrm>
          <a:prstGeom prst="rect">
            <a:avLst/>
          </a:prstGeom>
          <a:solidFill>
            <a:srgbClr val="2563EB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F0CEA8A-BB9F-2F25-8AD8-12AF911DC858}"/>
              </a:ext>
            </a:extLst>
          </p:cNvPr>
          <p:cNvSpPr txBox="1"/>
          <p:nvPr/>
        </p:nvSpPr>
        <p:spPr>
          <a:xfrm>
            <a:off x="7099300" y="3784600"/>
            <a:ext cx="3505200" cy="38100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联机一致性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F277CF6-3058-CEE3-E5C8-C65304FD100F}"/>
              </a:ext>
            </a:extLst>
          </p:cNvPr>
          <p:cNvSpPr txBox="1"/>
          <p:nvPr/>
        </p:nvSpPr>
        <p:spPr>
          <a:xfrm>
            <a:off x="7073900" y="4241800"/>
            <a:ext cx="3505200" cy="72584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运行时状态拆分为可同步快照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减少界面层直接修改核心状态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用房间权限控制开始、结算和同步入口</a:t>
            </a:r>
          </a:p>
        </p:txBody>
      </p:sp>
    </p:spTree>
    <p:extLst>
      <p:ext uri="{BB962C8B-B14F-4D97-AF65-F5344CB8AC3E}">
        <p14:creationId xmlns:p14="http://schemas.microsoft.com/office/powerpoint/2010/main" val="2738269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D3229C5-C50C-7878-5463-AB10700177B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EA758BC-D5EB-84CD-7552-88CC727C6B9C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EA90AC7-1787-7428-14E6-A42FC7BF3281}"/>
              </a:ext>
            </a:extLst>
          </p:cNvPr>
          <p:cNvSpPr/>
          <p:nvPr/>
        </p:nvSpPr>
        <p:spPr>
          <a:xfrm>
            <a:off x="0" y="800100"/>
            <a:ext cx="12192000" cy="1270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6761F4E-2ABD-0792-EBEA-365197A83850}"/>
              </a:ext>
            </a:extLst>
          </p:cNvPr>
          <p:cNvSpPr/>
          <p:nvPr/>
        </p:nvSpPr>
        <p:spPr>
          <a:xfrm>
            <a:off x="0" y="0"/>
            <a:ext cx="101600" cy="812800"/>
          </a:xfrm>
          <a:prstGeom prst="rect">
            <a:avLst/>
          </a:prstGeom>
          <a:solidFill>
            <a:srgbClr val="14B8A6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1458C4E-AB58-3B7A-3D9D-5E76F98EACA1}"/>
              </a:ext>
            </a:extLst>
          </p:cNvPr>
          <p:cNvSpPr txBox="1"/>
          <p:nvPr/>
        </p:nvSpPr>
        <p:spPr>
          <a:xfrm>
            <a:off x="355600" y="177800"/>
            <a:ext cx="8128000" cy="456535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2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团队协作与测试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32A52E9-1494-C2EF-02F7-9C85A7139C8F}"/>
              </a:ext>
            </a:extLst>
          </p:cNvPr>
          <p:cNvSpPr txBox="1"/>
          <p:nvPr/>
        </p:nvSpPr>
        <p:spPr>
          <a:xfrm>
            <a:off x="9652000" y="228600"/>
            <a:ext cx="1905000" cy="279564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r"/>
            <a:r>
              <a:rPr lang="zh-CN" altLang="en-US" sz="11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交付验证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9846413-DA94-DF22-95BB-335441714F96}"/>
              </a:ext>
            </a:extLst>
          </p:cNvPr>
          <p:cNvSpPr txBox="1"/>
          <p:nvPr/>
        </p:nvSpPr>
        <p:spPr>
          <a:xfrm>
            <a:off x="355600" y="6413500"/>
            <a:ext cx="5334000" cy="24878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9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许宇杰｜软件</a:t>
            </a:r>
            <a:r>
              <a:rPr lang="en-US" altLang="zh-CN" sz="9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25-10</a:t>
            </a:r>
            <a:r>
              <a:rPr lang="zh-CN" altLang="en-US" sz="9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｜</a:t>
            </a:r>
            <a:r>
              <a:rPr lang="en-US" altLang="zh-CN" sz="9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LanBoard</a:t>
            </a:r>
            <a:endParaRPr lang="zh-CN" altLang="en-US" sz="950">
              <a:solidFill>
                <a:srgbClr val="6B72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B9317B4-C619-DF48-2BCC-9AA7A8EF0281}"/>
              </a:ext>
            </a:extLst>
          </p:cNvPr>
          <p:cNvSpPr txBox="1"/>
          <p:nvPr/>
        </p:nvSpPr>
        <p:spPr>
          <a:xfrm>
            <a:off x="11430000" y="6388100"/>
            <a:ext cx="431800" cy="25648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r"/>
            <a:r>
              <a:rPr lang="en-US" altLang="zh-CN" sz="100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endParaRPr lang="zh-CN" altLang="en-US" sz="1000">
              <a:solidFill>
                <a:srgbClr val="6B72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DA768B9-DE15-C830-8903-E0A5E59C1EAC}"/>
              </a:ext>
            </a:extLst>
          </p:cNvPr>
          <p:cNvSpPr txBox="1"/>
          <p:nvPr/>
        </p:nvSpPr>
        <p:spPr>
          <a:xfrm>
            <a:off x="889000" y="1295400"/>
            <a:ext cx="2286000" cy="379591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协作链路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179D0DE-9BAE-11AB-583C-E010C7E09190}"/>
              </a:ext>
            </a:extLst>
          </p:cNvPr>
          <p:cNvSpPr/>
          <p:nvPr/>
        </p:nvSpPr>
        <p:spPr>
          <a:xfrm>
            <a:off x="1117600" y="1854200"/>
            <a:ext cx="1524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AEE4CC8-121F-B681-E76F-1D1B6DE59365}"/>
              </a:ext>
            </a:extLst>
          </p:cNvPr>
          <p:cNvSpPr txBox="1"/>
          <p:nvPr/>
        </p:nvSpPr>
        <p:spPr>
          <a:xfrm>
            <a:off x="1193800" y="1981200"/>
            <a:ext cx="1371600" cy="30264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zh-CN" altLang="en-US" sz="1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需求拆分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B5E3707-0596-29F2-917A-E86E5CC5A9B0}"/>
              </a:ext>
            </a:extLst>
          </p:cNvPr>
          <p:cNvCxnSpPr/>
          <p:nvPr/>
        </p:nvCxnSpPr>
        <p:spPr>
          <a:xfrm>
            <a:off x="2641600" y="2197100"/>
            <a:ext cx="381000" cy="0"/>
          </a:xfrm>
          <a:prstGeom prst="line">
            <a:avLst/>
          </a:prstGeom>
          <a:ln w="25400">
            <a:solidFill>
              <a:srgbClr val="6B72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FCED6D3-DB9E-12CB-DF76-31A84EA36A3C}"/>
              </a:ext>
            </a:extLst>
          </p:cNvPr>
          <p:cNvSpPr/>
          <p:nvPr/>
        </p:nvSpPr>
        <p:spPr>
          <a:xfrm>
            <a:off x="3022600" y="1854200"/>
            <a:ext cx="1524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6DB7979-F8D6-FF27-BFE5-69830018CE8E}"/>
              </a:ext>
            </a:extLst>
          </p:cNvPr>
          <p:cNvSpPr txBox="1"/>
          <p:nvPr/>
        </p:nvSpPr>
        <p:spPr>
          <a:xfrm>
            <a:off x="3098800" y="1981200"/>
            <a:ext cx="1371600" cy="30264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zh-CN" altLang="en-US" sz="1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模块实现</a:t>
            </a: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54EBAC5D-5D07-CA43-9F92-5D38F781EFFB}"/>
              </a:ext>
            </a:extLst>
          </p:cNvPr>
          <p:cNvCxnSpPr/>
          <p:nvPr/>
        </p:nvCxnSpPr>
        <p:spPr>
          <a:xfrm>
            <a:off x="4546600" y="2197100"/>
            <a:ext cx="381000" cy="0"/>
          </a:xfrm>
          <a:prstGeom prst="line">
            <a:avLst/>
          </a:prstGeom>
          <a:ln w="25400">
            <a:solidFill>
              <a:srgbClr val="6B72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C5035AE-4B14-F7E8-5354-6F7ED0662203}"/>
              </a:ext>
            </a:extLst>
          </p:cNvPr>
          <p:cNvSpPr/>
          <p:nvPr/>
        </p:nvSpPr>
        <p:spPr>
          <a:xfrm>
            <a:off x="4927600" y="1854200"/>
            <a:ext cx="1524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726996D-FA8F-86EF-A844-E4737D4EEFFB}"/>
              </a:ext>
            </a:extLst>
          </p:cNvPr>
          <p:cNvSpPr txBox="1"/>
          <p:nvPr/>
        </p:nvSpPr>
        <p:spPr>
          <a:xfrm>
            <a:off x="5003800" y="1981200"/>
            <a:ext cx="1371600" cy="30264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en-US" altLang="zh-CN" sz="1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QML </a:t>
            </a:r>
            <a:r>
              <a:rPr lang="zh-CN" altLang="en-US" sz="1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对接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F0F54547-EDD3-B5F6-407E-7CDD60EFFB8A}"/>
              </a:ext>
            </a:extLst>
          </p:cNvPr>
          <p:cNvCxnSpPr/>
          <p:nvPr/>
        </p:nvCxnSpPr>
        <p:spPr>
          <a:xfrm>
            <a:off x="6451600" y="2197100"/>
            <a:ext cx="381000" cy="0"/>
          </a:xfrm>
          <a:prstGeom prst="line">
            <a:avLst/>
          </a:prstGeom>
          <a:ln w="25400">
            <a:solidFill>
              <a:srgbClr val="6B72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DFABD9C6-D192-2B2F-5F4A-E0E8B914B52D}"/>
              </a:ext>
            </a:extLst>
          </p:cNvPr>
          <p:cNvSpPr/>
          <p:nvPr/>
        </p:nvSpPr>
        <p:spPr>
          <a:xfrm>
            <a:off x="6832600" y="1854200"/>
            <a:ext cx="1524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1C9007E-47EE-5D94-9001-E6645126917B}"/>
              </a:ext>
            </a:extLst>
          </p:cNvPr>
          <p:cNvSpPr txBox="1"/>
          <p:nvPr/>
        </p:nvSpPr>
        <p:spPr>
          <a:xfrm>
            <a:off x="6908800" y="1981200"/>
            <a:ext cx="1371600" cy="30264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zh-CN" altLang="en-US" sz="1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房间联调</a:t>
            </a: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2B820F32-D906-9DB5-A8E9-DD2571C1B1FD}"/>
              </a:ext>
            </a:extLst>
          </p:cNvPr>
          <p:cNvCxnSpPr/>
          <p:nvPr/>
        </p:nvCxnSpPr>
        <p:spPr>
          <a:xfrm>
            <a:off x="8356600" y="2197100"/>
            <a:ext cx="381000" cy="0"/>
          </a:xfrm>
          <a:prstGeom prst="line">
            <a:avLst/>
          </a:prstGeom>
          <a:ln w="25400">
            <a:solidFill>
              <a:srgbClr val="6B728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FCC93F4C-DB20-31FF-A739-671EE59F15D9}"/>
              </a:ext>
            </a:extLst>
          </p:cNvPr>
          <p:cNvSpPr/>
          <p:nvPr/>
        </p:nvSpPr>
        <p:spPr>
          <a:xfrm>
            <a:off x="8737600" y="1854200"/>
            <a:ext cx="15240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B8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DECEE3F-4627-2D32-0904-1E75D04176E1}"/>
              </a:ext>
            </a:extLst>
          </p:cNvPr>
          <p:cNvSpPr txBox="1"/>
          <p:nvPr/>
        </p:nvSpPr>
        <p:spPr>
          <a:xfrm>
            <a:off x="8813800" y="1981200"/>
            <a:ext cx="1371600" cy="30264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zh-CN" altLang="en-US" sz="1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多端测试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7578CE34-4828-ED35-C010-67B1B254EF47}"/>
              </a:ext>
            </a:extLst>
          </p:cNvPr>
          <p:cNvSpPr/>
          <p:nvPr/>
        </p:nvSpPr>
        <p:spPr>
          <a:xfrm>
            <a:off x="889000" y="3302000"/>
            <a:ext cx="3175000" cy="187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prstShdw prst="shdw1" dist="107763" dir="13500000">
              <a:scrgbClr r="0" g="0" b="0">
                <a:alpha val="50000"/>
              </a:sc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3C70FDF-90D6-E14C-A905-1674F151F0A4}"/>
              </a:ext>
            </a:extLst>
          </p:cNvPr>
          <p:cNvSpPr/>
          <p:nvPr/>
        </p:nvSpPr>
        <p:spPr>
          <a:xfrm>
            <a:off x="1016000" y="3429000"/>
            <a:ext cx="76200" cy="1625600"/>
          </a:xfrm>
          <a:prstGeom prst="rect">
            <a:avLst/>
          </a:prstGeom>
          <a:solidFill>
            <a:srgbClr val="2563EB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F6479E3-11CF-13E2-E30F-36588DA8260F}"/>
              </a:ext>
            </a:extLst>
          </p:cNvPr>
          <p:cNvSpPr txBox="1"/>
          <p:nvPr/>
        </p:nvSpPr>
        <p:spPr>
          <a:xfrm>
            <a:off x="1193800" y="3454400"/>
            <a:ext cx="2743200" cy="38100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测试场景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490338E-D62E-5F64-412E-55CBE66CFAA9}"/>
              </a:ext>
            </a:extLst>
          </p:cNvPr>
          <p:cNvSpPr txBox="1"/>
          <p:nvPr/>
        </p:nvSpPr>
        <p:spPr>
          <a:xfrm>
            <a:off x="1168400" y="3911600"/>
            <a:ext cx="2743200" cy="93358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本地模式：验证规则和流程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局域网模式：验证房间和同步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在线房间：验证服务端链路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Android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：验证横屏和性能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D844B879-7F2C-3F18-8119-2E4C17726759}"/>
              </a:ext>
            </a:extLst>
          </p:cNvPr>
          <p:cNvSpPr/>
          <p:nvPr/>
        </p:nvSpPr>
        <p:spPr>
          <a:xfrm>
            <a:off x="4508500" y="3302000"/>
            <a:ext cx="3175000" cy="187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prstShdw prst="shdw1" dist="107763" dir="13500000">
              <a:scrgbClr r="0" g="0" b="0">
                <a:alpha val="50000"/>
              </a:sc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06BCBBE-55D3-54E5-E9DF-13E4F6ACD2CE}"/>
              </a:ext>
            </a:extLst>
          </p:cNvPr>
          <p:cNvSpPr/>
          <p:nvPr/>
        </p:nvSpPr>
        <p:spPr>
          <a:xfrm>
            <a:off x="4635500" y="3429000"/>
            <a:ext cx="76200" cy="1625600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FF32259-7BE5-60F1-DC05-890DC8E3BF15}"/>
              </a:ext>
            </a:extLst>
          </p:cNvPr>
          <p:cNvSpPr txBox="1"/>
          <p:nvPr/>
        </p:nvSpPr>
        <p:spPr>
          <a:xfrm>
            <a:off x="4813300" y="3454400"/>
            <a:ext cx="2743200" cy="38100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重点检查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A84FB9D-2D41-6930-F3C6-6F84EF91A814}"/>
              </a:ext>
            </a:extLst>
          </p:cNvPr>
          <p:cNvSpPr txBox="1"/>
          <p:nvPr/>
        </p:nvSpPr>
        <p:spPr>
          <a:xfrm>
            <a:off x="4787900" y="3911600"/>
            <a:ext cx="2743200" cy="134908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斗地主：发牌、出牌、不要、胜负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弹幕试炼：移动、攻击、升级、结算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异常：断线、重复操作、边界输入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B3CB7965-CF6A-1F0E-816F-3FC6ECF0FF64}"/>
              </a:ext>
            </a:extLst>
          </p:cNvPr>
          <p:cNvSpPr/>
          <p:nvPr/>
        </p:nvSpPr>
        <p:spPr>
          <a:xfrm>
            <a:off x="8128000" y="3302000"/>
            <a:ext cx="3175000" cy="187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prstShdw prst="shdw1" dist="107763" dir="13500000">
              <a:scrgbClr r="0" g="0" b="0">
                <a:alpha val="50000"/>
              </a:sc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ED5F2E0-A9D7-865D-D114-42AAC4EBB9FD}"/>
              </a:ext>
            </a:extLst>
          </p:cNvPr>
          <p:cNvSpPr/>
          <p:nvPr/>
        </p:nvSpPr>
        <p:spPr>
          <a:xfrm>
            <a:off x="8255000" y="3429000"/>
            <a:ext cx="76200" cy="1625600"/>
          </a:xfrm>
          <a:prstGeom prst="rect">
            <a:avLst/>
          </a:prstGeom>
          <a:solidFill>
            <a:srgbClr val="7C3AED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BE5C2D6-E14C-6ACE-56D2-481625C40F39}"/>
              </a:ext>
            </a:extLst>
          </p:cNvPr>
          <p:cNvSpPr txBox="1"/>
          <p:nvPr/>
        </p:nvSpPr>
        <p:spPr>
          <a:xfrm>
            <a:off x="8432800" y="3454400"/>
            <a:ext cx="2743200" cy="38100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协作收益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9CE6653-EBC0-60E7-3375-A5BEADCC60A7}"/>
              </a:ext>
            </a:extLst>
          </p:cNvPr>
          <p:cNvSpPr txBox="1"/>
          <p:nvPr/>
        </p:nvSpPr>
        <p:spPr>
          <a:xfrm>
            <a:off x="8407400" y="3911600"/>
            <a:ext cx="2743200" cy="93358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接口边界更清晰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问题能定位到 </a:t>
            </a:r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QML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、控制器或网络层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文档和日志方便复盘开发过程</a:t>
            </a:r>
          </a:p>
        </p:txBody>
      </p:sp>
    </p:spTree>
    <p:extLst>
      <p:ext uri="{BB962C8B-B14F-4D97-AF65-F5344CB8AC3E}">
        <p14:creationId xmlns:p14="http://schemas.microsoft.com/office/powerpoint/2010/main" val="3923055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623F2E1-C116-6260-60DD-9E3E96F8316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AB494A5-9DE6-3A1E-CEE5-F8D426F00347}"/>
              </a:ext>
            </a:extLst>
          </p:cNvPr>
          <p:cNvSpPr/>
          <p:nvPr/>
        </p:nvSpPr>
        <p:spPr>
          <a:xfrm>
            <a:off x="0" y="0"/>
            <a:ext cx="12192000" cy="81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891A24F-AF57-99AE-B0E7-6F45F6EAAF4A}"/>
              </a:ext>
            </a:extLst>
          </p:cNvPr>
          <p:cNvSpPr/>
          <p:nvPr/>
        </p:nvSpPr>
        <p:spPr>
          <a:xfrm>
            <a:off x="0" y="800100"/>
            <a:ext cx="12192000" cy="1270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B4980C5-093E-B89C-43D9-8E7B9F504189}"/>
              </a:ext>
            </a:extLst>
          </p:cNvPr>
          <p:cNvSpPr/>
          <p:nvPr/>
        </p:nvSpPr>
        <p:spPr>
          <a:xfrm>
            <a:off x="0" y="0"/>
            <a:ext cx="101600" cy="812800"/>
          </a:xfrm>
          <a:prstGeom prst="rect">
            <a:avLst/>
          </a:prstGeom>
          <a:solidFill>
            <a:srgbClr val="14B8A6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9254A47-20BF-D83D-F21D-95EAB6A40D83}"/>
              </a:ext>
            </a:extLst>
          </p:cNvPr>
          <p:cNvSpPr txBox="1"/>
          <p:nvPr/>
        </p:nvSpPr>
        <p:spPr>
          <a:xfrm>
            <a:off x="355600" y="177800"/>
            <a:ext cx="8128000" cy="456535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23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实训收获与总结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FB6402F-14B8-D058-5735-DA6BA1DFBF63}"/>
              </a:ext>
            </a:extLst>
          </p:cNvPr>
          <p:cNvSpPr txBox="1"/>
          <p:nvPr/>
        </p:nvSpPr>
        <p:spPr>
          <a:xfrm>
            <a:off x="9652000" y="228600"/>
            <a:ext cx="1905000" cy="279564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r"/>
            <a:r>
              <a:rPr lang="zh-CN" altLang="en-US" sz="11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个人总结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8EF8BD0-CB69-C1AE-4C53-12DBAD2733EA}"/>
              </a:ext>
            </a:extLst>
          </p:cNvPr>
          <p:cNvSpPr txBox="1"/>
          <p:nvPr/>
        </p:nvSpPr>
        <p:spPr>
          <a:xfrm>
            <a:off x="355600" y="6413500"/>
            <a:ext cx="5334000" cy="248786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sz="9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许宇杰｜软件</a:t>
            </a:r>
            <a:r>
              <a:rPr lang="en-US" altLang="zh-CN" sz="9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25-10</a:t>
            </a:r>
            <a:r>
              <a:rPr lang="zh-CN" altLang="en-US" sz="9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｜</a:t>
            </a:r>
            <a:r>
              <a:rPr lang="en-US" altLang="zh-CN" sz="95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LanBoard</a:t>
            </a:r>
            <a:endParaRPr lang="zh-CN" altLang="en-US" sz="950">
              <a:solidFill>
                <a:srgbClr val="6B72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7B02592-A63A-9F9A-9137-8E0A65140B7C}"/>
              </a:ext>
            </a:extLst>
          </p:cNvPr>
          <p:cNvSpPr txBox="1"/>
          <p:nvPr/>
        </p:nvSpPr>
        <p:spPr>
          <a:xfrm>
            <a:off x="11430000" y="6388100"/>
            <a:ext cx="431800" cy="25648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r"/>
            <a:r>
              <a:rPr lang="en-US" altLang="zh-CN" sz="1000">
                <a:solidFill>
                  <a:srgbClr val="6B72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11</a:t>
            </a:r>
            <a:endParaRPr lang="zh-CN" altLang="en-US" sz="1000">
              <a:solidFill>
                <a:srgbClr val="6B728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32C7079-D0B7-F5F8-52A6-573AB0070C03}"/>
              </a:ext>
            </a:extLst>
          </p:cNvPr>
          <p:cNvSpPr/>
          <p:nvPr/>
        </p:nvSpPr>
        <p:spPr>
          <a:xfrm>
            <a:off x="889000" y="1397000"/>
            <a:ext cx="3175000" cy="266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prstShdw prst="shdw1" dist="107763" dir="13500000">
              <a:scrgbClr r="0" g="0" b="0">
                <a:alpha val="50000"/>
              </a:sc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2F0434E-9AC9-CE2C-4F92-842F8AE3A44C}"/>
              </a:ext>
            </a:extLst>
          </p:cNvPr>
          <p:cNvSpPr/>
          <p:nvPr/>
        </p:nvSpPr>
        <p:spPr>
          <a:xfrm>
            <a:off x="1016000" y="1524000"/>
            <a:ext cx="76200" cy="2413000"/>
          </a:xfrm>
          <a:prstGeom prst="rect">
            <a:avLst/>
          </a:prstGeom>
          <a:solidFill>
            <a:srgbClr val="14B8A6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9E70A60-5438-8C9F-E9FD-05369FBDCF34}"/>
              </a:ext>
            </a:extLst>
          </p:cNvPr>
          <p:cNvSpPr txBox="1"/>
          <p:nvPr/>
        </p:nvSpPr>
        <p:spPr>
          <a:xfrm>
            <a:off x="1193800" y="1549400"/>
            <a:ext cx="2743200" cy="38100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技术收获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EA430FE-1132-B8AA-65D5-C820D5290BAD}"/>
              </a:ext>
            </a:extLst>
          </p:cNvPr>
          <p:cNvSpPr txBox="1"/>
          <p:nvPr/>
        </p:nvSpPr>
        <p:spPr>
          <a:xfrm>
            <a:off x="1168400" y="2006600"/>
            <a:ext cx="2743200" cy="1349087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熟悉 </a:t>
            </a:r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Qt 6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QML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C++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的协同方式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理解 </a:t>
            </a:r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QObject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、信号槽和界面数据绑定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掌握 </a:t>
            </a:r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CMake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项目构建和多端运行流程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B34C394-D34F-6445-AE2E-835E61D61163}"/>
              </a:ext>
            </a:extLst>
          </p:cNvPr>
          <p:cNvSpPr/>
          <p:nvPr/>
        </p:nvSpPr>
        <p:spPr>
          <a:xfrm>
            <a:off x="4508500" y="1397000"/>
            <a:ext cx="3175000" cy="266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prstShdw prst="shdw1" dist="107763" dir="13500000">
              <a:scrgbClr r="0" g="0" b="0">
                <a:alpha val="50000"/>
              </a:sc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CC5912F-EF38-362C-D454-29D8D0F2CDCD}"/>
              </a:ext>
            </a:extLst>
          </p:cNvPr>
          <p:cNvSpPr/>
          <p:nvPr/>
        </p:nvSpPr>
        <p:spPr>
          <a:xfrm>
            <a:off x="4635500" y="1524000"/>
            <a:ext cx="76200" cy="241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206DA6D-94B3-794A-A162-E53A240E28E9}"/>
              </a:ext>
            </a:extLst>
          </p:cNvPr>
          <p:cNvSpPr txBox="1"/>
          <p:nvPr/>
        </p:nvSpPr>
        <p:spPr>
          <a:xfrm>
            <a:off x="4813300" y="1549400"/>
            <a:ext cx="2743200" cy="38100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工程收获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EADCD67-3E0D-B95E-735E-727988D9ECBB}"/>
              </a:ext>
            </a:extLst>
          </p:cNvPr>
          <p:cNvSpPr txBox="1"/>
          <p:nvPr/>
        </p:nvSpPr>
        <p:spPr>
          <a:xfrm>
            <a:off x="4787900" y="2006600"/>
            <a:ext cx="2743200" cy="933589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把玩法规则封装到控制器中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用统一状态入口降低同步错误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通过测试和日志定位复杂联机问题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3AD09AA-0D29-4735-F642-1E0DB3B57E74}"/>
              </a:ext>
            </a:extLst>
          </p:cNvPr>
          <p:cNvSpPr/>
          <p:nvPr/>
        </p:nvSpPr>
        <p:spPr>
          <a:xfrm>
            <a:off x="8128000" y="1397000"/>
            <a:ext cx="3175000" cy="266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prstShdw prst="shdw1" dist="107763" dir="13500000">
              <a:scrgbClr r="0" g="0" b="0">
                <a:alpha val="50000"/>
              </a:scrgbClr>
            </a:prst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E410130-81EB-B41F-F83B-AD19FF27DFCB}"/>
              </a:ext>
            </a:extLst>
          </p:cNvPr>
          <p:cNvSpPr/>
          <p:nvPr/>
        </p:nvSpPr>
        <p:spPr>
          <a:xfrm>
            <a:off x="8255000" y="1524000"/>
            <a:ext cx="76200" cy="241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FAD008F-29E4-3208-207F-EA7694DFB6AA}"/>
              </a:ext>
            </a:extLst>
          </p:cNvPr>
          <p:cNvSpPr txBox="1"/>
          <p:nvPr/>
        </p:nvSpPr>
        <p:spPr>
          <a:xfrm>
            <a:off x="8432800" y="1549400"/>
            <a:ext cx="2743200" cy="381000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zh-CN" altLang="en-US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项目收获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306ECAC-6FCC-5193-B32B-698F1C430042}"/>
              </a:ext>
            </a:extLst>
          </p:cNvPr>
          <p:cNvSpPr txBox="1"/>
          <p:nvPr/>
        </p:nvSpPr>
        <p:spPr>
          <a:xfrm>
            <a:off x="8407400" y="2006600"/>
            <a:ext cx="2743200" cy="1141338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斗地主验证了三人回合制同步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弹幕试炼验证了实时战斗和成长系统</a:t>
            </a:r>
          </a:p>
          <a:p>
            <a:r>
              <a:rPr lang="en-US" altLang="zh-CN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350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两个模块都服务于完整课程项目展示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83B3B0C-1AF9-1332-AE68-371F084128B9}"/>
              </a:ext>
            </a:extLst>
          </p:cNvPr>
          <p:cNvSpPr/>
          <p:nvPr/>
        </p:nvSpPr>
        <p:spPr>
          <a:xfrm>
            <a:off x="1397000" y="4699000"/>
            <a:ext cx="93980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B64B311-0F46-20A6-9025-287CE846FA33}"/>
              </a:ext>
            </a:extLst>
          </p:cNvPr>
          <p:cNvSpPr txBox="1"/>
          <p:nvPr/>
        </p:nvSpPr>
        <p:spPr>
          <a:xfrm>
            <a:off x="1778000" y="4953000"/>
            <a:ext cx="8636000" cy="625812"/>
          </a:xfrm>
          <a:prstGeom prst="rect">
            <a:avLst/>
          </a:prstGeom>
          <a:noFill/>
        </p:spPr>
        <p:txBody>
          <a:bodyPr vert="horz" lIns="101600" tIns="50800" rIns="101600" bIns="50800" rtlCol="0">
            <a:spAutoFit/>
          </a:bodyPr>
          <a:lstStyle/>
          <a:p>
            <a:pPr algn="ctr"/>
            <a:r>
              <a:rPr lang="zh-CN" altLang="en-US" sz="1700" b="1">
                <a:solidFill>
                  <a:srgbClr val="1F293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本次实训让我从“实现单个功能”转向“把功能接入完整系统”：既要能运行，也要能展示、能同步、能测试、能复盘。</a:t>
            </a:r>
          </a:p>
        </p:txBody>
      </p:sp>
    </p:spTree>
    <p:extLst>
      <p:ext uri="{BB962C8B-B14F-4D97-AF65-F5344CB8AC3E}">
        <p14:creationId xmlns:p14="http://schemas.microsoft.com/office/powerpoint/2010/main" val="476226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1472</Words>
  <Application>Microsoft Office PowerPoint</Application>
  <PresentationFormat>宽屏</PresentationFormat>
  <Paragraphs>231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melon honeydew</dc:creator>
  <cp:lastModifiedBy>melon honeydew</cp:lastModifiedBy>
  <cp:revision>2</cp:revision>
  <dcterms:created xsi:type="dcterms:W3CDTF">2026-07-11T08:41:11Z</dcterms:created>
  <dcterms:modified xsi:type="dcterms:W3CDTF">2026-07-11T08:41:39Z</dcterms:modified>
</cp:coreProperties>
</file>