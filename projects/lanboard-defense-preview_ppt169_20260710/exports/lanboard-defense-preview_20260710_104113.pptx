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首先我想强调，LanBoard 不是单个小游戏的展示，而是一套完整的跨平台联机系统。它统一承载了四类玩法，同时打通了本地、局域网和在线联机三条运行链路，并已经覆盖 Windows、Android 与 ECS 服务端三端交付。后面的内容我会先用总体架构说明它为什么能被组织成一套系统，再展开具体实现。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这一页的结论是，LanBoard 的关键价值不在某个页面或某个单独玩法，而在于统一房间模型和分层控制接口。左侧是我希望评审先记住的结论，右侧则是论文里的总体架构实体关系图，作为代码实现和系统组织的证据。通过 AppController、RoomManager、NetworkManager 以及各类控制器的协同，项目才真正具备了多玩法接入、多链路联机和跨平台交付的可复用基础。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50a7714242bd52a3.jp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3E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E4A45">
                    <a:alpha val="10000"/>
                  </a:srgbClr>
                </a:gs>
                <a:gs pos="100000">
                  <a:srgbClr val="CC7A2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DBFAE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33400" y="58483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DBFAE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" y="400050"/>
            <a:ext cx="10257312" cy="346901"/>
            <a:chOff x="533400" y="400050"/>
            <a:chExt cx="10257312" cy="346901"/>
          </a:xfrm>
        </p:grpSpPr>
        <p:sp>
          <p:nvSpPr>
            <p:cNvPr id="7" name="Rectangle 7"/>
            <p:cNvSpPr/>
            <p:nvPr/>
          </p:nvSpPr>
          <p:spPr>
            <a:xfrm>
              <a:off x="533400" y="400050"/>
              <a:ext cx="2190750" cy="342900"/>
            </a:xfrm>
            <a:prstGeom prst="roundRect">
              <a:avLst>
                <a:gd name="adj" fmla="val 11111"/>
              </a:avLst>
            </a:prstGeom>
            <a:solidFill>
              <a:srgbClr val="ECE6DA"/>
            </a:solidFill>
            <a:ln w="14288">
              <a:solidFill>
                <a:srgbClr val="CDBFA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092" y="4829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4A45"/>
                  </a:solidFill>
                  <a:latin typeface="Arial"/>
                  <a:ea typeface="Microsoft YaHei"/>
                  <a:cs typeface="Arial"/>
                </a:rPr>
                <a:t>毕业设计答辩预览样张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0892" y="482918"/>
              <a:ext cx="2129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F6967"/>
                  </a:solidFill>
                  <a:latin typeface="Arial"/>
                  <a:ea typeface="Arial"/>
                  <a:cs typeface="Arial"/>
                </a:rPr>
                <a:t>Qt6 / QML / C++ / ENet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" y="1368742"/>
            <a:ext cx="9121140" cy="4247198"/>
            <a:chOff x="628650" y="1368742"/>
            <a:chExt cx="9121140" cy="4247198"/>
          </a:xfrm>
        </p:grpSpPr>
        <p:sp>
          <p:nvSpPr>
            <p:cNvPr id="11" name="TextBox 11"/>
            <p:cNvSpPr txBox="1"/>
            <p:nvPr/>
          </p:nvSpPr>
          <p:spPr>
            <a:xfrm>
              <a:off x="628650" y="1368742"/>
              <a:ext cx="4088366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850" b="1" dirty="0">
                  <a:solidFill>
                    <a:srgbClr val="2E4A45"/>
                  </a:solidFill>
                  <a:latin typeface="Times New Roman"/>
                  <a:ea typeface="Times New Roman"/>
                  <a:cs typeface="Times New Roman"/>
                </a:rPr>
                <a:t>LanBoard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2350770"/>
              <a:ext cx="81348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5F6967"/>
                  </a:solidFill>
                  <a:latin typeface="Times New Roman"/>
                  <a:ea typeface="Times New Roman"/>
                  <a:cs typeface="Times New Roman"/>
                </a:rPr>
                <a:t>Cross-Platform Multiplayer Board Game System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2846" y="3096578"/>
              <a:ext cx="4883658" cy="9368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55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基于 Qt6/QML 与 ENet 的</a:t>
              </a:r>
              <a:r>
                <a:rPr lang="zh-CN" sz="255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跨平台多游戏联机系统设计与实现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0560" y="4152900"/>
              <a:ext cx="907923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这不是单个玩法的演示，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而是一套同时打通</a:t>
              </a:r>
              <a:r>
                <a:rPr lang="zh-CN" sz="3000" b="1" dirty="0">
                  <a:solidFill>
                    <a:srgbClr val="2E4A45"/>
                  </a:solidFill>
                  <a:latin typeface="Arial"/>
                  <a:ea typeface="Microsoft YaHei"/>
                  <a:cs typeface="Arial"/>
                </a:rPr>
                <a:t>多玩法接入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3000" b="1" dirty="0">
                  <a:solidFill>
                    <a:srgbClr val="2E4A45"/>
                  </a:solidFill>
                  <a:latin typeface="Arial"/>
                  <a:ea typeface="Microsoft YaHei"/>
                  <a:cs typeface="Arial"/>
                </a:rPr>
                <a:t>局域网与在线联机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以及</a:t>
              </a:r>
              <a:r>
                <a:rPr lang="zh-CN" sz="3000" b="1" dirty="0">
                  <a:solidFill>
                    <a:srgbClr val="CC7A2F"/>
                  </a:solidFill>
                  <a:latin typeface="Arial"/>
                  <a:ea typeface="Microsoft YaHei"/>
                  <a:cs typeface="Arial"/>
                </a:rPr>
                <a:t>跨平台交付闭环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的系统作品。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62750" y="1714500"/>
            <a:ext cx="5828538" cy="3105150"/>
            <a:chOff x="6762750" y="1714500"/>
            <a:chExt cx="5828538" cy="3105150"/>
          </a:xfrm>
        </p:grpSpPr>
        <p:sp>
          <p:nvSpPr>
            <p:cNvPr id="16" name="Rectangle 16"/>
            <p:cNvSpPr/>
            <p:nvPr/>
          </p:nvSpPr>
          <p:spPr>
            <a:xfrm>
              <a:off x="6762750" y="1714500"/>
              <a:ext cx="4895850" cy="3105150"/>
            </a:xfrm>
            <a:prstGeom prst="rect">
              <a:avLst/>
            </a:prstGeom>
            <a:solidFill>
              <a:srgbClr val="F6F3EC"/>
            </a:solidFill>
            <a:ln w="19050">
              <a:solidFill>
                <a:srgbClr val="CDBFA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382000" y="19621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14288">
              <a:solidFill>
                <a:srgbClr val="CDBFA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82200" y="19621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14288">
              <a:solidFill>
                <a:srgbClr val="CDBFA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0" y="2171700"/>
              <a:ext cx="2283333" cy="2012823"/>
              <a:chOff x="7048500" y="2171700"/>
              <a:chExt cx="2283333" cy="2012823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7087791" y="2171700"/>
                <a:ext cx="283369" cy="323850"/>
                <a:chOff x="7087791" y="2171700"/>
                <a:chExt cx="283369" cy="32385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7087791" y="2171700"/>
                  <a:ext cx="283369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161925">
                      <a:moveTo>
                        <a:pt x="0" y="101203"/>
                      </a:moveTo>
                      <a:lnTo>
                        <a:pt x="0" y="60722"/>
                      </a:lnTo>
                      <a:lnTo>
                        <a:pt x="141684" y="0"/>
                      </a:lnTo>
                      <a:lnTo>
                        <a:pt x="283369" y="60722"/>
                      </a:lnTo>
                      <a:lnTo>
                        <a:pt x="283369" y="101203"/>
                      </a:lnTo>
                      <a:lnTo>
                        <a:pt x="141684" y="161925"/>
                      </a:lnTo>
                      <a:lnTo>
                        <a:pt x="0" y="101203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7087791" y="2394347"/>
                  <a:ext cx="283369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101203">
                      <a:moveTo>
                        <a:pt x="141684" y="101203"/>
                      </a:moveTo>
                      <a:lnTo>
                        <a:pt x="0" y="40481"/>
                      </a:lnTo>
                      <a:lnTo>
                        <a:pt x="0" y="0"/>
                      </a:lnTo>
                      <a:lnTo>
                        <a:pt x="141684" y="60722"/>
                      </a:lnTo>
                      <a:lnTo>
                        <a:pt x="283369" y="0"/>
                      </a:lnTo>
                      <a:lnTo>
                        <a:pt x="283369" y="40481"/>
                      </a:lnTo>
                      <a:lnTo>
                        <a:pt x="141684" y="101203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7087791" y="2313384"/>
                  <a:ext cx="283369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101203">
                      <a:moveTo>
                        <a:pt x="0" y="40481"/>
                      </a:moveTo>
                      <a:lnTo>
                        <a:pt x="141684" y="101203"/>
                      </a:lnTo>
                      <a:lnTo>
                        <a:pt x="283369" y="40481"/>
                      </a:lnTo>
                      <a:lnTo>
                        <a:pt x="283369" y="0"/>
                      </a:lnTo>
                      <a:lnTo>
                        <a:pt x="141684" y="60722"/>
                      </a:lnTo>
                      <a:lnTo>
                        <a:pt x="0" y="0"/>
                      </a:lnTo>
                      <a:lnTo>
                        <a:pt x="0" y="40481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048500" y="2442210"/>
                <a:ext cx="38310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2E4A45"/>
                    </a:solidFill>
                    <a:latin typeface="Times New Roman"/>
                    <a:ea typeface="Times New Roman"/>
                    <a:cs typeface="Times New Roman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60692" y="3092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F6967"/>
                    </a:solidFill>
                    <a:latin typeface="Arial"/>
                    <a:ea typeface="Microsoft YaHei"/>
                    <a:cs typeface="Arial"/>
                  </a:rPr>
                  <a:t>玩法接入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56882" y="3449955"/>
                <a:ext cx="2274951" cy="7345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五子棋、斗地主、</a:t>
                </a: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飞行棋与 Survivor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667750" y="2191941"/>
              <a:ext cx="1629918" cy="1992582"/>
              <a:chOff x="8667750" y="2191941"/>
              <a:chExt cx="1629918" cy="1992582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8686800" y="2191941"/>
                <a:ext cx="323850" cy="283369"/>
                <a:chOff x="8686800" y="2191941"/>
                <a:chExt cx="323850" cy="283369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8929688" y="2191941"/>
                  <a:ext cx="80962" cy="28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283369">
                      <a:moveTo>
                        <a:pt x="80962" y="0"/>
                      </a:moveTo>
                      <a:lnTo>
                        <a:pt x="0" y="0"/>
                      </a:lnTo>
                      <a:lnTo>
                        <a:pt x="0" y="283369"/>
                      </a:lnTo>
                      <a:lnTo>
                        <a:pt x="80962" y="283369"/>
                      </a:lnTo>
                      <a:lnTo>
                        <a:pt x="80962" y="0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808244" y="2272903"/>
                  <a:ext cx="80962" cy="20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202406">
                      <a:moveTo>
                        <a:pt x="0" y="0"/>
                      </a:moveTo>
                      <a:lnTo>
                        <a:pt x="80962" y="0"/>
                      </a:lnTo>
                      <a:lnTo>
                        <a:pt x="80962" y="202406"/>
                      </a:lnTo>
                      <a:lnTo>
                        <a:pt x="0" y="2024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686800" y="2353866"/>
                  <a:ext cx="80962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121444">
                      <a:moveTo>
                        <a:pt x="0" y="0"/>
                      </a:moveTo>
                      <a:lnTo>
                        <a:pt x="80962" y="0"/>
                      </a:lnTo>
                      <a:lnTo>
                        <a:pt x="80962" y="121444"/>
                      </a:lnTo>
                      <a:lnTo>
                        <a:pt x="0" y="1214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8667750" y="2442210"/>
                <a:ext cx="38310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2E4A45"/>
                    </a:solidFill>
                    <a:latin typeface="Times New Roman"/>
                    <a:ea typeface="Times New Roman"/>
                    <a:cs typeface="Times New Roman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79942" y="3092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F6967"/>
                    </a:solidFill>
                    <a:latin typeface="Arial"/>
                    <a:ea typeface="Microsoft YaHei"/>
                    <a:cs typeface="Arial"/>
                  </a:rPr>
                  <a:t>运行链路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676132" y="3449955"/>
                <a:ext cx="1621536" cy="7345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本地、局域网</a:t>
                </a: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与在线联机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267950" y="2212181"/>
              <a:ext cx="2323338" cy="1972342"/>
              <a:chOff x="10267950" y="2212181"/>
              <a:chExt cx="2323338" cy="1972342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10287000" y="2212181"/>
                <a:ext cx="323850" cy="242888"/>
                <a:chOff x="10287000" y="2212181"/>
                <a:chExt cx="323850" cy="242888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0287000" y="2212181"/>
                  <a:ext cx="323850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101203">
                      <a:moveTo>
                        <a:pt x="323850" y="0"/>
                      </a:moveTo>
                      <a:lnTo>
                        <a:pt x="0" y="0"/>
                      </a:lnTo>
                      <a:lnTo>
                        <a:pt x="0" y="101203"/>
                      </a:lnTo>
                      <a:lnTo>
                        <a:pt x="323850" y="101203"/>
                      </a:lnTo>
                      <a:lnTo>
                        <a:pt x="323850" y="0"/>
                      </a:lnTo>
                      <a:close/>
                      <a:moveTo>
                        <a:pt x="80962" y="50602"/>
                      </a:moveTo>
                      <a:cubicBezTo>
                        <a:pt x="80962" y="61780"/>
                        <a:pt x="71900" y="70842"/>
                        <a:pt x="60722" y="70842"/>
                      </a:cubicBezTo>
                      <a:cubicBezTo>
                        <a:pt x="49543" y="70842"/>
                        <a:pt x="40481" y="61780"/>
                        <a:pt x="40481" y="50602"/>
                      </a:cubicBezTo>
                      <a:cubicBezTo>
                        <a:pt x="40481" y="39423"/>
                        <a:pt x="49543" y="30361"/>
                        <a:pt x="60722" y="30361"/>
                      </a:cubicBezTo>
                      <a:cubicBezTo>
                        <a:pt x="71900" y="30361"/>
                        <a:pt x="80962" y="39423"/>
                        <a:pt x="80962" y="50602"/>
                      </a:cubicBez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287000" y="2353866"/>
                  <a:ext cx="323850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101203">
                      <a:moveTo>
                        <a:pt x="323850" y="0"/>
                      </a:moveTo>
                      <a:lnTo>
                        <a:pt x="0" y="0"/>
                      </a:lnTo>
                      <a:lnTo>
                        <a:pt x="0" y="101203"/>
                      </a:lnTo>
                      <a:lnTo>
                        <a:pt x="323850" y="101203"/>
                      </a:lnTo>
                      <a:lnTo>
                        <a:pt x="323850" y="0"/>
                      </a:lnTo>
                      <a:close/>
                      <a:moveTo>
                        <a:pt x="60722" y="70842"/>
                      </a:moveTo>
                      <a:cubicBezTo>
                        <a:pt x="71900" y="70842"/>
                        <a:pt x="80962" y="61780"/>
                        <a:pt x="80962" y="50602"/>
                      </a:cubicBezTo>
                      <a:cubicBezTo>
                        <a:pt x="80962" y="39423"/>
                        <a:pt x="71900" y="30361"/>
                        <a:pt x="60722" y="30361"/>
                      </a:cubicBezTo>
                      <a:cubicBezTo>
                        <a:pt x="49543" y="30361"/>
                        <a:pt x="40481" y="39423"/>
                        <a:pt x="40481" y="50602"/>
                      </a:cubicBezTo>
                      <a:cubicBezTo>
                        <a:pt x="40481" y="61780"/>
                        <a:pt x="49543" y="70842"/>
                        <a:pt x="60722" y="70842"/>
                      </a:cubicBezTo>
                      <a:close/>
                    </a:path>
                  </a:pathLst>
                </a:custGeom>
                <a:solidFill>
                  <a:srgbClr val="2E4A45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0267950" y="2442210"/>
                <a:ext cx="38310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2E4A45"/>
                    </a:solidFill>
                    <a:latin typeface="Times New Roman"/>
                    <a:ea typeface="Times New Roman"/>
                    <a:cs typeface="Times New Roman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280142" y="30927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F6967"/>
                    </a:solidFill>
                    <a:latin typeface="Arial"/>
                    <a:ea typeface="Microsoft YaHei"/>
                    <a:cs typeface="Arial"/>
                  </a:rPr>
                  <a:t>交付端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276332" y="3449955"/>
                <a:ext cx="2314956" cy="7345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Windows、Android</a:t>
                </a:r>
                <a:r>
                  <a:rPr lang="zh-CN" sz="2100" dirty="0">
                    <a:solidFill>
                      <a:srgbClr val="232B2B"/>
                    </a:solidFill>
                    <a:latin typeface="Arial"/>
                    <a:ea typeface="Microsoft YaHei"/>
                    <a:cs typeface="Arial"/>
                  </a:rPr>
                  <a:t>与 ECS 服务端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678942" y="6083618"/>
            <a:ext cx="12057164" cy="264033"/>
            <a:chOff x="678942" y="6083618"/>
            <a:chExt cx="12057164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678942" y="6083618"/>
              <a:ext cx="1683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F6967"/>
                  </a:solidFill>
                  <a:latin typeface="Arial"/>
                  <a:ea typeface="Arial"/>
                  <a:cs typeface="Arial"/>
                </a:rPr>
                <a:t>Preview 01 / Cover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51392" y="608361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967"/>
                  </a:solidFill>
                  <a:latin typeface="Arial"/>
                  <a:ea typeface="Microsoft YaHei"/>
                  <a:cs typeface="Arial"/>
                </a:rPr>
                <a:t>答辩方向：平台化架构 · 混合协议 · 跨平台交付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3EC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066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DBFAE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4591050" y="129540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19050">
              <a:solidFill>
                <a:srgbClr val="CDBFA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400050"/>
            <a:ext cx="10534259" cy="330803"/>
            <a:chOff x="533400" y="400050"/>
            <a:chExt cx="10534259" cy="330803"/>
          </a:xfrm>
        </p:grpSpPr>
        <p:sp>
          <p:nvSpPr>
            <p:cNvPr id="6" name="Rectangle 6"/>
            <p:cNvSpPr/>
            <p:nvPr/>
          </p:nvSpPr>
          <p:spPr>
            <a:xfrm>
              <a:off x="533400" y="400050"/>
              <a:ext cx="1676400" cy="323850"/>
            </a:xfrm>
            <a:prstGeom prst="roundRect">
              <a:avLst>
                <a:gd name="adj" fmla="val 11765"/>
              </a:avLst>
            </a:prstGeom>
            <a:solidFill>
              <a:srgbClr val="ECE6DA"/>
            </a:solidFill>
            <a:ln w="14288">
              <a:solidFill>
                <a:srgbClr val="CDBFA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473" y="481489"/>
              <a:ext cx="1307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4A45"/>
                  </a:solidFill>
                  <a:latin typeface="Arial"/>
                  <a:ea typeface="Microsoft YaHei"/>
                  <a:cs typeface="Arial"/>
                </a:rPr>
                <a:t>P02 / 总体架构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18523" y="481489"/>
              <a:ext cx="1549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F6967"/>
                  </a:solidFill>
                  <a:latin typeface="Arial"/>
                  <a:ea typeface="Microsoft YaHei"/>
                  <a:cs typeface="Arial"/>
                </a:rPr>
                <a:t>证据图：论文图 3-1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124902"/>
            <a:ext cx="5438775" cy="2505075"/>
            <a:chOff x="666750" y="1124902"/>
            <a:chExt cx="5438775" cy="2505075"/>
          </a:xfrm>
        </p:grpSpPr>
        <p:sp>
          <p:nvSpPr>
            <p:cNvPr id="10" name="TextBox 10"/>
            <p:cNvSpPr txBox="1"/>
            <p:nvPr/>
          </p:nvSpPr>
          <p:spPr>
            <a:xfrm>
              <a:off x="666750" y="1124902"/>
              <a:ext cx="5438775" cy="2505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500"/>
                </a:lnSpc>
              </a:pPr>
              <a:r>
                <a:rPr lang="zh-CN" sz="4050" b="1" dirty="0">
                  <a:solidFill>
                    <a:srgbClr val="2E4A45"/>
                  </a:solidFill>
                  <a:latin typeface="Times New Roman"/>
                  <a:ea typeface="Microsoft YaHei"/>
                  <a:cs typeface="Times New Roman"/>
                </a:rPr>
                <a:t>统一房间模型与</a:t>
              </a:r>
              <a:r>
                <a:rPr lang="zh-CN" sz="4050" b="1" dirty="0">
                  <a:solidFill>
                    <a:srgbClr val="2E4A45"/>
                  </a:solidFill>
                  <a:latin typeface="Times New Roman"/>
                  <a:ea typeface="Microsoft YaHei"/>
                  <a:cs typeface="Times New Roman"/>
                </a:rPr>
                <a:t>分层控制接口，</a:t>
              </a:r>
              <a:r>
                <a:rPr lang="zh-CN" sz="4050" b="1" dirty="0">
                  <a:solidFill>
                    <a:srgbClr val="2E4A45"/>
                  </a:solidFill>
                  <a:latin typeface="Times New Roman"/>
                  <a:ea typeface="Microsoft YaHei"/>
                  <a:cs typeface="Times New Roman"/>
                </a:rPr>
                <a:t>让多玩法与多链路</a:t>
              </a:r>
              <a:r>
                <a:rPr lang="zh-CN" sz="4050" b="1" dirty="0">
                  <a:solidFill>
                    <a:srgbClr val="2E4A45"/>
                  </a:solidFill>
                  <a:latin typeface="Times New Roman"/>
                  <a:ea typeface="Microsoft YaHei"/>
                  <a:cs typeface="Times New Roman"/>
                </a:rPr>
                <a:t>收束为同一套系统语义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0560" y="3752850"/>
            <a:ext cx="6888480" cy="1463040"/>
            <a:chOff x="670560" y="3752850"/>
            <a:chExt cx="6888480" cy="1463040"/>
          </a:xfrm>
        </p:grpSpPr>
        <p:sp>
          <p:nvSpPr>
            <p:cNvPr id="12" name="TextBox 12"/>
            <p:cNvSpPr txBox="1"/>
            <p:nvPr/>
          </p:nvSpPr>
          <p:spPr>
            <a:xfrm>
              <a:off x="670560" y="3752850"/>
              <a:ext cx="688848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平台层、网络层与玩法层各司其职，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因此复杂度没有散落在页面里，</a:t>
              </a:r>
              <a:r>
                <a:rPr lang="zh-CN" sz="30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而是被组织为可复用的会话与控制接口。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5391150"/>
            <a:ext cx="5231892" cy="1334262"/>
            <a:chOff x="685800" y="5391150"/>
            <a:chExt cx="5231892" cy="1334262"/>
          </a:xfrm>
        </p:grpSpPr>
        <p:sp>
          <p:nvSpPr>
            <p:cNvPr id="14" name="Line 14"/>
            <p:cNvSpPr/>
            <p:nvPr/>
          </p:nvSpPr>
          <p:spPr>
            <a:xfrm>
              <a:off x="685800" y="53911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14288">
              <a:solidFill>
                <a:srgbClr val="CDBFA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00088" y="5581650"/>
              <a:ext cx="200025" cy="228600"/>
              <a:chOff x="700088" y="5581650"/>
              <a:chExt cx="200025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00088" y="558165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0" y="71438"/>
                    </a:move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71438"/>
                    </a:lnTo>
                    <a:lnTo>
                      <a:pt x="100012" y="114300"/>
                    </a:lnTo>
                    <a:lnTo>
                      <a:pt x="0" y="71438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0088" y="573881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100012" y="71438"/>
                    </a:moveTo>
                    <a:lnTo>
                      <a:pt x="0" y="28575"/>
                    </a:lnTo>
                    <a:lnTo>
                      <a:pt x="0" y="0"/>
                    </a:lnTo>
                    <a:lnTo>
                      <a:pt x="100012" y="42862"/>
                    </a:lnTo>
                    <a:lnTo>
                      <a:pt x="200025" y="0"/>
                    </a:lnTo>
                    <a:lnTo>
                      <a:pt x="200025" y="28575"/>
                    </a:lnTo>
                    <a:lnTo>
                      <a:pt x="100012" y="71438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0088" y="568166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0" y="28575"/>
                    </a:moveTo>
                    <a:lnTo>
                      <a:pt x="100012" y="71438"/>
                    </a:lnTo>
                    <a:lnTo>
                      <a:pt x="200025" y="28575"/>
                    </a:lnTo>
                    <a:lnTo>
                      <a:pt x="200025" y="0"/>
                    </a:lnTo>
                    <a:lnTo>
                      <a:pt x="100012" y="42862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21842" y="56168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967"/>
                  </a:solidFill>
                  <a:latin typeface="Arial"/>
                  <a:ea typeface="Microsoft YaHei"/>
                  <a:cs typeface="Arial"/>
                </a:rPr>
                <a:t>平台壳层统一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508" y="5894070"/>
              <a:ext cx="4901184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4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QML Shell 与 AppController</a:t>
              </a:r>
              <a:r>
                <a:rPr lang="zh-CN" sz="240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先统一页面入口、导航与会话流转。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38700" y="1390650"/>
            <a:ext cx="10738818" cy="4842701"/>
            <a:chOff x="4838700" y="1390650"/>
            <a:chExt cx="10738818" cy="4842701"/>
          </a:xfrm>
        </p:grpSpPr>
        <p:sp>
          <p:nvSpPr>
            <p:cNvPr id="22" name="Rectangle 22"/>
            <p:cNvSpPr/>
            <p:nvPr/>
          </p:nvSpPr>
          <p:spPr>
            <a:xfrm>
              <a:off x="4838700" y="1390650"/>
              <a:ext cx="6705600" cy="4095750"/>
            </a:xfrm>
            <a:prstGeom prst="rect">
              <a:avLst/>
            </a:prstGeom>
            <a:solidFill>
              <a:srgbClr val="F6F3EC"/>
            </a:solidFill>
            <a:ln w="19050">
              <a:solidFill>
                <a:srgbClr val="CDBFAE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7299" y="1504950"/>
              <a:ext cx="6448402" cy="3867150"/>
            </a:xfrm>
            <a:prstGeom prst="rect">
              <a:avLst/>
            </a:prstGeom>
          </p:spPr>
        </p:pic>
        <p:sp>
          <p:nvSpPr>
            <p:cNvPr id="24" name="Line 24"/>
            <p:cNvSpPr/>
            <p:nvPr/>
          </p:nvSpPr>
          <p:spPr>
            <a:xfrm>
              <a:off x="4838700" y="5638800"/>
              <a:ext cx="6705600" cy="9525"/>
            </a:xfrm>
            <a:custGeom>
              <a:avLst/>
              <a:gdLst/>
              <a:ahLst/>
              <a:cxnLst/>
              <a:rect l="l" t="t" r="r" b="b"/>
              <a:pathLst>
                <a:path w="6705600" h="9525">
                  <a:moveTo>
                    <a:pt x="0" y="0"/>
                  </a:moveTo>
                  <a:lnTo>
                    <a:pt x="6705600" y="0"/>
                  </a:lnTo>
                </a:path>
              </a:pathLst>
            </a:custGeom>
            <a:noFill/>
            <a:ln w="14288">
              <a:solidFill>
                <a:srgbClr val="CDBFA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84242" y="5721668"/>
              <a:ext cx="3294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967"/>
                  </a:solidFill>
                  <a:latin typeface="Arial"/>
                  <a:ea typeface="Microsoft YaHei"/>
                  <a:cs typeface="Arial"/>
                </a:rPr>
                <a:t>图 3-1 / LanBoard 系统架构实体关系图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4242" y="5969318"/>
              <a:ext cx="10593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QML Shell、AppController、RoomManager、NetworkManager、经典桌游控制器与 Survivor 子系统被收束到同一平台语义下。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6324600"/>
            <a:ext cx="12726536" cy="356425"/>
            <a:chOff x="533400" y="6324600"/>
            <a:chExt cx="12726536" cy="356425"/>
          </a:xfrm>
        </p:grpSpPr>
        <p:sp>
          <p:nvSpPr>
            <p:cNvPr id="28" name="Rectangle 28"/>
            <p:cNvSpPr/>
            <p:nvPr/>
          </p:nvSpPr>
          <p:spPr>
            <a:xfrm>
              <a:off x="533400" y="6324600"/>
              <a:ext cx="11010900" cy="323850"/>
            </a:xfrm>
            <a:prstGeom prst="rect">
              <a:avLst/>
            </a:prstGeom>
            <a:solidFill>
              <a:srgbClr val="ECE6DA"/>
            </a:solidFill>
            <a:ln w="14288">
              <a:solidFill>
                <a:srgbClr val="CDBFA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85800" y="6403181"/>
              <a:ext cx="190500" cy="166688"/>
              <a:chOff x="685800" y="6403181"/>
              <a:chExt cx="190500" cy="1666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28675" y="6403181"/>
                <a:ext cx="476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66688">
                    <a:moveTo>
                      <a:pt x="47625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47625" y="166688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7238" y="6450806"/>
                <a:ext cx="476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9062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119062"/>
                    </a:lnTo>
                    <a:lnTo>
                      <a:pt x="0" y="1190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5800" y="6498431"/>
                <a:ext cx="476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71438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71438"/>
                    </a:lnTo>
                    <a:lnTo>
                      <a:pt x="0" y="714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4A45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83742" y="6416992"/>
              <a:ext cx="12276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32B2B"/>
                  </a:solidFill>
                  <a:latin typeface="Arial"/>
                  <a:ea typeface="Microsoft YaHei"/>
                  <a:cs typeface="Arial"/>
                </a:rPr>
                <a:t>RoomManager 管房间语义，NetworkManager 管发现、通信与在线链路；经典桌游与 Survivor 共享生命周期接口，但各自保留规则推进与同步差异。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2026-07-10T02:41:14Z</dcterms:created>
  <dcterms:modified xsi:type="dcterms:W3CDTF">2026-07-10T02:41:14Z</dcterms:modified>
  <cp:category/>
  <cp:contentStatus/>
</cp:coreProperties>
</file>